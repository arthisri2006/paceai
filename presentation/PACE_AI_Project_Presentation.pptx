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730e0bb17547c5" /><Relationship Type="http://schemas.openxmlformats.org/officeDocument/2006/relationships/extended-properties" Target="/docProps/app.xml" Id="R0fd1fe4cf99b4367" /><Relationship Type="http://schemas.openxmlformats.org/officeDocument/2006/relationships/officeDocument" Target="/ppt/presentation.xml" Id="R7b2440aef5134aa8" /></Relationships>
</file>

<file path=ppt/presentation.xml><?xml version="1.0" encoding="utf-8"?>
<p:presentation xmlns:p="http://schemas.openxmlformats.org/presentationml/2006/main">
  <p:sldMasterIdLst>
    <p:sldMasterId xmlns:r="http://schemas.openxmlformats.org/officeDocument/2006/relationships" id="2147483648" r:id="R23673d34646e4be7"/>
  </p:sldMasterIdLst>
  <p:notesMasterIdLst>
    <p:notesMasterId xmlns:r="http://schemas.openxmlformats.org/officeDocument/2006/relationships" r:id="R39e3a33f36ba4d90"/>
  </p:notesMasterIdLst>
  <p:sldIdLst>
    <p:sldId xmlns:r="http://schemas.openxmlformats.org/officeDocument/2006/relationships" id="256" r:id="R69dfd1ff37d74433"/>
    <p:sldId xmlns:r="http://schemas.openxmlformats.org/officeDocument/2006/relationships" id="257" r:id="Ra03a177950f54e12"/>
    <p:sldId xmlns:r="http://schemas.openxmlformats.org/officeDocument/2006/relationships" id="258" r:id="R547a26584fe445a5"/>
    <p:sldId xmlns:r="http://schemas.openxmlformats.org/officeDocument/2006/relationships" id="259" r:id="Rd5a1a628eb934b8c"/>
    <p:sldId xmlns:r="http://schemas.openxmlformats.org/officeDocument/2006/relationships" id="260" r:id="Rbc216c2ea94d4838"/>
    <p:sldId xmlns:r="http://schemas.openxmlformats.org/officeDocument/2006/relationships" id="261" r:id="Rbf989f50c0da40c6"/>
    <p:sldId xmlns:r="http://schemas.openxmlformats.org/officeDocument/2006/relationships" id="262" r:id="R20b3803ec9fe40bb"/>
    <p:sldId xmlns:r="http://schemas.openxmlformats.org/officeDocument/2006/relationships" id="263" r:id="R1a53ef57329a478f"/>
    <p:sldId xmlns:r="http://schemas.openxmlformats.org/officeDocument/2006/relationships" id="264" r:id="R5037ac7fd0b446ea"/>
    <p:sldId xmlns:r="http://schemas.openxmlformats.org/officeDocument/2006/relationships" id="265" r:id="R44f6a31456914c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e477aa56be42a6" /><Relationship Type="http://schemas.openxmlformats.org/officeDocument/2006/relationships/slideMaster" Target="/ppt/slideMasters/slideMaster1.xml" Id="R23673d34646e4be7" /><Relationship Type="http://schemas.openxmlformats.org/officeDocument/2006/relationships/notesMaster" Target="/ppt/notesMasters/notesMaster1.xml" Id="R39e3a33f36ba4d90" /><Relationship Type="http://schemas.openxmlformats.org/officeDocument/2006/relationships/presProps" Target="/ppt/presProps.xml" Id="R34c8fcb1f0bf49d9" /><Relationship Type="http://schemas.openxmlformats.org/officeDocument/2006/relationships/tableStyles" Target="/ppt/tableStyles.xml" Id="R22cf5ffe77194bcb" /><Relationship Type="http://schemas.openxmlformats.org/officeDocument/2006/relationships/slide" Target="/ppt/slides/slide1.xml" Id="R69dfd1ff37d74433" /><Relationship Type="http://schemas.openxmlformats.org/officeDocument/2006/relationships/slide" Target="/ppt/slides/slide2.xml" Id="Ra03a177950f54e12" /><Relationship Type="http://schemas.openxmlformats.org/officeDocument/2006/relationships/slide" Target="/ppt/slides/slide3.xml" Id="R547a26584fe445a5" /><Relationship Type="http://schemas.openxmlformats.org/officeDocument/2006/relationships/slide" Target="/ppt/slides/slide4.xml" Id="Rd5a1a628eb934b8c" /><Relationship Type="http://schemas.openxmlformats.org/officeDocument/2006/relationships/slide" Target="/ppt/slides/slide5.xml" Id="Rbc216c2ea94d4838" /><Relationship Type="http://schemas.openxmlformats.org/officeDocument/2006/relationships/slide" Target="/ppt/slides/slide6.xml" Id="Rbf989f50c0da40c6" /><Relationship Type="http://schemas.openxmlformats.org/officeDocument/2006/relationships/slide" Target="/ppt/slides/slide7.xml" Id="R20b3803ec9fe40bb" /><Relationship Type="http://schemas.openxmlformats.org/officeDocument/2006/relationships/slide" Target="/ppt/slides/slide8.xml" Id="R1a53ef57329a478f" /><Relationship Type="http://schemas.openxmlformats.org/officeDocument/2006/relationships/slide" Target="/ppt/slides/slide9.xml" Id="R5037ac7fd0b446ea" /><Relationship Type="http://schemas.openxmlformats.org/officeDocument/2006/relationships/slide" Target="/ppt/slides/slide10.xml" Id="R44f6a31456914c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c8ae18e61a49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1a95dc425a4909" /><Relationship Type="http://schemas.openxmlformats.org/officeDocument/2006/relationships/notesMaster" Target="/ppt/notesMasters/notesMaster1.xml" Id="R2ef88002b03a46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464479a3fc44ab" /><Relationship Type="http://schemas.openxmlformats.org/officeDocument/2006/relationships/notesMaster" Target="/ppt/notesMasters/notesMaster1.xml" Id="R5cc112c0e41c41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4a4d97996747ef" /><Relationship Type="http://schemas.openxmlformats.org/officeDocument/2006/relationships/notesMaster" Target="/ppt/notesMasters/notesMaster1.xml" Id="R5c9cdc0807a045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65ccd8a8e04992" /><Relationship Type="http://schemas.openxmlformats.org/officeDocument/2006/relationships/notesMaster" Target="/ppt/notesMasters/notesMaster1.xml" Id="R00914c6474ef4d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dc51abf70d46ac" /><Relationship Type="http://schemas.openxmlformats.org/officeDocument/2006/relationships/notesMaster" Target="/ppt/notesMasters/notesMaster1.xml" Id="R86431c37ba924b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16c2016a134992" /><Relationship Type="http://schemas.openxmlformats.org/officeDocument/2006/relationships/notesMaster" Target="/ppt/notesMasters/notesMaster1.xml" Id="Rafb5a8d08fc44b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e0d90557bc4a78" /><Relationship Type="http://schemas.openxmlformats.org/officeDocument/2006/relationships/notesMaster" Target="/ppt/notesMasters/notesMaster1.xml" Id="Rc990610b90d94b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0f6fab760f431d" /><Relationship Type="http://schemas.openxmlformats.org/officeDocument/2006/relationships/notesMaster" Target="/ppt/notesMasters/notesMaster1.xml" Id="Rcafa2a2e2f7643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0352ea614b4c86" /><Relationship Type="http://schemas.openxmlformats.org/officeDocument/2006/relationships/notesMaster" Target="/ppt/notesMasters/notesMaster1.xml" Id="R80d744922b1647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543630f5d44eaa" /><Relationship Type="http://schemas.openxmlformats.org/officeDocument/2006/relationships/notesMaster" Target="/ppt/notesMasters/notesMaster1.xml" Id="R2a870e33a7a845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Our project is PACE AI, a campus information assistant built around official PACE webpages and academic documents. A student can ask an ordinary question and inspect the supporting source instead of searching through several pages manually. We use retrieval-augmented generation, or RAG. That means the system retrieves relevant evidence before asking Gemini to write an answer. We chose this approach because training a new language model would require far more data and computing resources, and would still not give us clear document citations. Search and embeddings run locally, while Gemini receives the current question and selected public excerpts. Today I will explain the working application, its retrieval design and the changes we tested, followed by the limitations that remain.</a:t>
            </a:r>
          </a:p>
          <a:p xmlns:a="http://schemas.openxmlformats.org/drawingml/2006/main">
            <a:r>
              <a:t/>
            </a:r>
          </a:p>
          <a:p xmlns:a="http://schemas.openxmlformats.org/drawingml/2006/main">
            <a:r>
              <a:t>Sources: README.md; app.py; src/rag_pipeline.py; original assets/pace-logo.jpg.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mostly one of navigation. Campus information already exists, but it appears across syllabus PDFs, regulation documents and separate admissions or placement pages. A student may find a document and still need to locate the relevant semester or page. PACE AI adds a conversational entry point to this material. The screenshot shows a real AIML R23 query. Academic scope matters here because an answer from another branch or regulation can sound plausible while being wrong. The application keeps source identity and page information with the text. For an exact syllabus overview it can extract the indexed course table directly, without calling Gemini. The resulting overview is partial, and the application tells students to open the official PDF for all semesters, credits and detailed units.</a:t>
            </a:r>
          </a:p>
          <a:p xmlns:a="http://schemas.openxmlformats.org/drawingml/2006/main">
            <a:r>
              <a:t/>
            </a:r>
          </a:p>
          <a:p xmlns:a="http://schemas.openxmlformats.org/drawingml/2006/main">
            <a:r>
              <a:t>Sources: src/retriever.py; src/rag_pipeline.py; real localhost screenshot captured 12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actual home screen, using the original PACE crest. The interface offers suggested questions, a chat input and source cards beside answers. The important features sit behind that simple screen. FAISS searches for passages with similar meaning, while BM25 helps match exact words and course codes. Branch and regulation filters narrow the document scope. Token-aware chunks keep embedding inputs within the model limit. Gemini streams supported answers, but weak evidence produces a refusal instead. The cache stores recent retrieval results with a size and expiry limit. Candidate index selection also lets us restore the previous index safely. These are current features. Authentication, uploads and permanent conversation storage are not part of this application. The conversation shown in the interface belongs only to the current Streamlit session.</a:t>
            </a:r>
          </a:p>
          <a:p xmlns:a="http://schemas.openxmlformats.org/drawingml/2006/main">
            <a:r>
              <a:t/>
            </a:r>
          </a:p>
          <a:p xmlns:a="http://schemas.openxmlformats.org/drawingml/2006/main">
            <a:r>
              <a:t>Sources: app.py; assets/ui.css; assets/spotlight.js; src/ui.py; src/retriever.py; src/index_selection.py; real home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phases. Offline preparation collects public PACE pages and PDFs, cleans their text and creates chunks. Each chunk retains its source identity. BGE turns the embedding input into a vector, and FAISS stores those vectors. A second index stores BM25 keyword information. Both indexes feed hybrid retrieval at question time. Selected evidence passes a gate before entering the generation context. Gemini writes an answer and the application checks citation labels before showing source cards. The diagram shows the normal generation path. Exact syllabus navigation and greetings have shorter paths, which I will show next. Streamlit and the RAG pipeline run in one Python process. We do not currently need an application database because index files and their metadata already support this read-oriented snapshot. Persistent accounts or shared chat history would change that requirement.</a:t>
            </a:r>
          </a:p>
          <a:p xmlns:a="http://schemas.openxmlformats.org/drawingml/2006/main">
            <a:r>
              <a:t/>
            </a:r>
          </a:p>
          <a:p xmlns:a="http://schemas.openxmlformats.org/drawingml/2006/main">
            <a:r>
              <a:t>Sources: build_index.py; src/cleaner.py; src/token_chunker.py; src/embeddings.py; src/vector_store.py; src/bm25_search.py; src/rag_pipeline.py; 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retrieving supporting text and using it to guide the answer. After validating a question, the pipeline detects its academic scope and checks the retrieval cache. On a cache miss, BGE represents the question as a numerical vector. FAISS compares vector similarity, while BM25 scores matching words. Combining the two helps with both paraphrases and exact academic terms. The pipeline fuses and reranks these results, rejects weak evidence and builds a bounded context. Gemini streams an answer, then citation checks ensure that source labels refer to supplied evidence. A cache hit skips repeated search work. Greetings receive a deterministic reply. Exact syllabus overviews use indexed tables. Missing evidence produces a refusal without Gemini. These controls reduce unsupported answers, but they do not prove that every generated sentence is correct. Source inspection remains important.</a:t>
            </a:r>
          </a:p>
          <a:p xmlns:a="http://schemas.openxmlformats.org/drawingml/2006/main">
            <a:r>
              <a:t/>
            </a:r>
          </a:p>
          <a:p xmlns:a="http://schemas.openxmlformats.org/drawingml/2006/main">
            <a:r>
              <a:t>Sources: src/retriever.py; src/rag_pipeline.py; src/answer_policy.py; src/llm.py; config.py. Cache defaults: 128 entries, 300-second TTL. Retrieval defaults: 8 vector, 8 BM25, 4 final results. Context: at most 900 words and 3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index had 3,227 chunks. Token inspection found 952 complete embedding inputs above the BGE model window of 512 tokens. Long inputs risk losing information through truncation. The active candidate has 5,835 smaller chunks and no oversized inputs. Its 448-token budget counts the text together with metadata and special tokens. The chunker preserves complete course rows when they fit and carries useful headings into later chunks. Page aggregation keeps syllabus overviews complete across those smaller pieces. Both the baseline and candidate passed all 17 curated retrieval checks, so the result is no regression on this test set. It is not a claim of universal accuracy. Smaller chunks increase storage and search work, so we do not claim a general speed improvement. The original index remains available through a non-destructive rollback command.</a:t>
            </a:r>
          </a:p>
          <a:p xmlns:a="http://schemas.openxmlformats.org/drawingml/2006/main">
            <a:r>
              <a:t/>
            </a:r>
          </a:p>
          <a:p xmlns:a="http://schemas.openxmlformats.org/drawingml/2006/main">
            <a:r>
              <a:t>Sources: TOKEN_CHUNKING_REPORT.md; data/candidates/token-448-20260912-v3/evaluation.json; src/token_chunker.py; src/index_selection.py. Active candidate: token-448-20260912-v3. Rollback: python select_index.py --rollback.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3.11 runs the application. Streamlit provides the interface and session state. Gemini is the configured language model, and the project calls its REST streaming endpoint directly through Requests. Locally, Sentence Transformers loads BAAI bge-small-en-v1.5. It produces 384-dimensional embeddings. FAISS uses inner product on normalized vectors, which gives cosine similarity. BM25 adds lexical matching. Requests and Beautiful Soup handle webpages, while PyMuPDF extracts text from PDFs. LangChain text splitters support difficult chunk splits, python-dotenv loads local configuration, and Pytest runs automated checks. Qwen support remains in the code as an optional local provider through Transformers or llama.cpp, but it is inactive. No separate REST application service or application database sits between these components. This keeps the current local deployment relatively simple.</a:t>
            </a:r>
          </a:p>
          <a:p xmlns:a="http://schemas.openxmlformats.org/drawingml/2006/main">
            <a:r>
              <a:t/>
            </a:r>
          </a:p>
          <a:p xmlns:a="http://schemas.openxmlformats.org/drawingml/2006/main">
            <a:r>
              <a:t>Sources: requirements.txt; config.py; src/embeddings.py; src/vector_store.py; src/llm.py; src/token_chunker.py; README.md. Configured generation model documented as gemini-3.5-flash.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stays on the server and the project excludes the local environment file from source control. Public PACE requests validate allowed hosts and redirects. PDF loading checks file size and signature. The prompt tells Gemini to treat retrieved text as reference data, and the application validates citation labels. These measures reduce risk, but a prompt instruction does not guarantee protection from prompt injection. Candidate checksums and quality gates help prevent accidental activation of inconsistent files. Rollback preserves both indexes. The launcher binds to localhost, and authentication is not implemented. In a fresh run, all 89 automated tests passed. The saved retrieval evaluation passed 17 cases, including missing and unrelated queries. The earlier recorded live Gemini placement check also passed. These are bounded observations, not a complete security audit or an accuracy guarantee.</a:t>
            </a:r>
          </a:p>
          <a:p xmlns:a="http://schemas.openxmlformats.org/drawingml/2006/main">
            <a:r>
              <a:t/>
            </a:r>
          </a:p>
          <a:p xmlns:a="http://schemas.openxmlformats.org/drawingml/2006/main">
            <a:r>
              <a:t>Sources: Fresh pytest run on 12 September 2026: 89 passed. TOKEN_CHUNKING_REPORT.md records the live Gemini test. evaluation.json; .gitignore; src/public_http.py; src/pdf_loader.py; src/llm.py; src/index_selection.py; start.ps1.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demonstration, I open the application and ask for the AIML R23 syllabus. I show the semester overview and open the linked PDF pages 2 and 3. Then I ask for an unavailable regulation such as R99 and show the refusal. The screenshot contains the actual source cards. The current library is a saved snapshot. A website change will not automatically appear in answers until a deliberate refresh and index update. The first semantic query can also be slow because it loads the embedding model. Scanned PDFs need OCR, which we have not added. Future work includes safe change detection, conditional refresh of webpages and PDFs, reuse of unchanged embeddings and quality-gated activation. To support more users we would also need authentication, rate limits, bounded history and a reviewed concurrency design. A larger evaluation set should accompany these changes.</a:t>
            </a:r>
          </a:p>
          <a:p xmlns:a="http://schemas.openxmlformats.org/drawingml/2006/main">
            <a:r>
              <a:t/>
            </a:r>
          </a:p>
          <a:p xmlns:a="http://schemas.openxmlformats.org/drawingml/2006/main">
            <a:r>
              <a:t>Sources: Real localhost source-card screenshot; src/crawler.py; src/pdf_loader.py; src/runtime.py; app.py; TOKEN_CHUNKING_REPORT.md. Source snapshot: 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PACE AI gives students a searchable entry point to official campus information while preserving the branch, regulation and document identity behind an answer. Hybrid retrieval combines semantic matching with exact keyword evidence. Token-safe embedding inputs avoid silent truncation, and the candidate workflow lets us test an index before selecting it. Gemini improves the conversational answer, while citations let the student inspect the source. The practical value is less manual navigation, with clear boundaries when the library lacks evidence. We still have important work ahead around fresh content, cold-start latency and support for more users. The current tests show that the selected candidate preserves the cases we checked, rather than proving every possible answer correct. Thank you. I am happy to discuss the design choices or demonstrate the source links.</a:t>
            </a:r>
          </a:p>
          <a:p xmlns:a="http://schemas.openxmlformats.org/drawingml/2006/main">
            <a:r>
              <a:t/>
            </a:r>
          </a:p>
          <a:p xmlns:a="http://schemas.openxmlformats.org/drawingml/2006/main">
            <a:r>
              <a:t>Sources: README.md; TOKEN_CHUNKING_REPORT.md; src/rag_pipeline.py; original assets/pace-logo.jpg.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44dd902b1644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f661ed963445c1" /><Relationship Type="http://schemas.openxmlformats.org/officeDocument/2006/relationships/slideLayout" Target="/ppt/slideLayouts/slideLayout1.xml" Id="R269f513fb09046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9f513fb09046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486588740d41a4" /><Relationship Type="http://schemas.openxmlformats.org/officeDocument/2006/relationships/image" Target="/ppt/media/image.jpeg" Id="R0e0c5ef03d5f4ffc" /><Relationship Type="http://schemas.openxmlformats.org/officeDocument/2006/relationships/notesSlide" Target="/ppt/notesSlides/notesSlide1.xml" Id="Rc9604af2920748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aae81212434b9a" /><Relationship Type="http://schemas.openxmlformats.org/officeDocument/2006/relationships/image" Target="/ppt/media/image2.jpeg" Id="Raaed4e85660246dd" /><Relationship Type="http://schemas.openxmlformats.org/officeDocument/2006/relationships/notesSlide" Target="/ppt/notesSlides/notesSlide2.xml" Id="Rcc7536c7515d45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8f0a69abd84a2f" /><Relationship Type="http://schemas.openxmlformats.org/officeDocument/2006/relationships/image" Target="/ppt/media/image3.jpeg" Id="R625875eaab1145b5" /><Relationship Type="http://schemas.openxmlformats.org/officeDocument/2006/relationships/notesSlide" Target="/ppt/notesSlides/notesSlide3.xml" Id="R981822fe4dec4c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4085ec6c5e4032" /><Relationship Type="http://schemas.openxmlformats.org/officeDocument/2006/relationships/notesSlide" Target="/ppt/notesSlides/notesSlide4.xml" Id="Re68bd45dc9da4e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698e44b7ab4bfa" /><Relationship Type="http://schemas.openxmlformats.org/officeDocument/2006/relationships/notesSlide" Target="/ppt/notesSlides/notesSlide5.xml" Id="R1fe3ccaac1144e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d6f614d02f4364" /><Relationship Type="http://schemas.openxmlformats.org/officeDocument/2006/relationships/notesSlide" Target="/ppt/notesSlides/notesSlide6.xml" Id="Rcf9c042ec28843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ccb9112b924549" /><Relationship Type="http://schemas.openxmlformats.org/officeDocument/2006/relationships/notesSlide" Target="/ppt/notesSlides/notesSlide7.xml" Id="Rdbd787be3b944b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4ecc7a10c54507" /><Relationship Type="http://schemas.openxmlformats.org/officeDocument/2006/relationships/notesSlide" Target="/ppt/notesSlides/notesSlide8.xml" Id="Rdf16d89e409046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ecdabca1864aea" /><Relationship Type="http://schemas.openxmlformats.org/officeDocument/2006/relationships/image" Target="/ppt/media/image4.jpeg" Id="R72812a16d1ba4ba5" /><Relationship Type="http://schemas.openxmlformats.org/officeDocument/2006/relationships/notesSlide" Target="/ppt/notesSlides/notesSlide9.xml" Id="R91a53e25892047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895c9a7ef54aed" /><Relationship Type="http://schemas.openxmlformats.org/officeDocument/2006/relationships/image" Target="/ppt/media/image5.jpeg" Id="R4bb44b6ed5b441a7" /><Relationship Type="http://schemas.openxmlformats.org/officeDocument/2006/relationships/notesSlide" Target="/ppt/notesSlides/notesSlide10.xml" Id="Rbd1068c007584048" /></Relationships>
</file>

<file path=ppt/slides/slide1.xml><?xml version="1.0" encoding="utf-8"?>
<p:sld xmlns:p="http://schemas.openxmlformats.org/presentationml/2006/main">
  <p:cSld>
    <p:bg>
      <p:bgPr>
        <a:gradFill xmlns:a="http://schemas.openxmlformats.org/drawingml/2006/main">
          <a:gsLst>
            <a:gs pos="0">
              <a:srgbClr val="0D1725"/>
            </a:gs>
            <a:gs pos="72000">
              <a:srgbClr val="132C3F"/>
            </a:gs>
            <a:gs pos="100000">
              <a:srgbClr val="12342E"/>
            </a:gs>
          </a:gsLst>
          <a:lin ang="75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1E5EF3-18DA-45E5-B503-A884CA4CE1F9}"/>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e0c5ef03d5f4ffc"/>
          <a:stretch xmlns:a="http://schemas.openxmlformats.org/drawingml/2006/main"/>
        </p:blipFill>
        <p:spPr>
          <a:xfrm xmlns:a="http://schemas.openxmlformats.org/drawingml/2006/main">
            <a:off x="590550" y="523875"/>
            <a:ext cx="990600" cy="990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212145-3719-4A73-B53B-219750ED2077}"/>
              </a:ext>
            </a:extLst>
          </p:cNvPr>
          <p:cNvSpPr>
            <a:spLocks xmlns:a="http://schemas.openxmlformats.org/drawingml/2006/main" noGrp="1"/>
          </p:cNvSpPr>
          <p:nvPr/>
        </p:nvSpPr>
        <p:spPr>
          <a:xfrm xmlns:a="http://schemas.openxmlformats.org/drawingml/2006/main">
            <a:off x="590550" y="2076450"/>
            <a:ext cx="1000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6900" b="1">
                <a:solidFill>
                  <a:srgbClr val="F2F6FA"/>
                </a:solidFill>
                <a:latin typeface="Arial"/>
                <a:ea typeface="Arial"/>
                <a:cs typeface="Arial"/>
              </a:defRPr>
            </a:pPr>
            <a:r>
              <a:rPr sz="6900" b="1">
                <a:solidFill>
                  <a:srgbClr val="F2F6FA"/>
                </a:solidFill>
                <a:latin typeface="Arial"/>
                <a:ea typeface="Arial"/>
                <a:cs typeface="Arial"/>
              </a:rPr>
              <a:t>PACE AI</a:t>
            </a:r>
          </a:p>
        </p:txBody>
      </p:sp>
      <p:sp>
        <p:nvSpPr>
          <p:cNvPr id="4" name="">
            <a:extLst xmlns:a="http://schemas.openxmlformats.org/drawingml/2006/main">
              <a:ext uri="{FF2B5EF4-FFF2-40B4-BE49-F238E27FC236}">
                <a16:creationId xmlns:a16="http://schemas.microsoft.com/office/drawing/2014/main" id="{CA7735F6-3CCE-4EE7-90FD-2FBFE965B82E}"/>
              </a:ext>
            </a:extLst>
          </p:cNvPr>
          <p:cNvSpPr>
            <a:spLocks xmlns:a="http://schemas.openxmlformats.org/drawingml/2006/main" noGrp="1"/>
          </p:cNvSpPr>
          <p:nvPr/>
        </p:nvSpPr>
        <p:spPr>
          <a:xfrm xmlns:a="http://schemas.openxmlformats.org/drawingml/2006/main">
            <a:off x="619125" y="3314700"/>
            <a:ext cx="1028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925" b="0">
                <a:solidFill>
                  <a:srgbClr val="69D4E8"/>
                </a:solidFill>
                <a:latin typeface="Arial"/>
                <a:ea typeface="Arial"/>
                <a:cs typeface="Arial"/>
              </a:defRPr>
            </a:pPr>
            <a:r>
              <a:rPr sz="2925" b="0">
                <a:solidFill>
                  <a:srgbClr val="69D4E8"/>
                </a:solidFill>
                <a:latin typeface="Arial"/>
                <a:ea typeface="Arial"/>
                <a:cs typeface="Arial"/>
              </a:rPr>
              <a:t>Intelligent Campus Information Assistant</a:t>
            </a:r>
          </a:p>
        </p:txBody>
      </p:sp>
      <p:sp>
        <p:nvSpPr>
          <p:cNvPr id="5" name="">
            <a:extLst xmlns:a="http://schemas.openxmlformats.org/drawingml/2006/main">
              <a:ext uri="{FF2B5EF4-FFF2-40B4-BE49-F238E27FC236}">
                <a16:creationId xmlns:a16="http://schemas.microsoft.com/office/drawing/2014/main" id="{EA29D8BF-6468-47CF-A8B6-1B4A2EFAD590}"/>
              </a:ext>
            </a:extLst>
          </p:cNvPr>
          <p:cNvSpPr>
            <a:spLocks xmlns:a="http://schemas.openxmlformats.org/drawingml/2006/main" noGrp="1"/>
          </p:cNvSpPr>
          <p:nvPr/>
        </p:nvSpPr>
        <p:spPr>
          <a:xfrm xmlns:a="http://schemas.openxmlformats.org/drawingml/2006/main">
            <a:off x="619125" y="4029075"/>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B7C5D3"/>
                </a:solidFill>
                <a:latin typeface="Arial"/>
                <a:ea typeface="Arial"/>
                <a:cs typeface="Arial"/>
              </a:defRPr>
            </a:pPr>
            <a:r>
              <a:rPr sz="2025" b="0">
                <a:solidFill>
                  <a:srgbClr val="B7C5D3"/>
                </a:solidFill>
                <a:latin typeface="Arial"/>
                <a:ea typeface="Arial"/>
                <a:cs typeface="Arial"/>
              </a:rPr>
              <a:t>A source-grounded RAG system for official campus information</a:t>
            </a:r>
          </a:p>
        </p:txBody>
      </p:sp>
      <p:sp>
        <p:nvSpPr>
          <p:cNvPr id="6" name="">
            <a:extLst xmlns:a="http://schemas.openxmlformats.org/drawingml/2006/main">
              <a:ext uri="{FF2B5EF4-FFF2-40B4-BE49-F238E27FC236}">
                <a16:creationId xmlns:a16="http://schemas.microsoft.com/office/drawing/2014/main" id="{EA20B308-A2FC-4B6A-814F-73FDB2A9995E}"/>
              </a:ext>
            </a:extLst>
          </p:cNvPr>
          <p:cNvSpPr>
            <a:spLocks xmlns:a="http://schemas.openxmlformats.org/drawingml/2006/main" noGrp="1"/>
          </p:cNvSpPr>
          <p:nvPr/>
        </p:nvSpPr>
        <p:spPr>
          <a:xfrm xmlns:a="http://schemas.openxmlformats.org/drawingml/2006/main">
            <a:off x="619125" y="55626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[Student/team names]    ·    Guide: [Guide name]</a:t>
            </a:r>
          </a:p>
        </p:txBody>
      </p:sp>
      <p:sp>
        <p:nvSpPr>
          <p:cNvPr id="7" name="">
            <a:extLst xmlns:a="http://schemas.openxmlformats.org/drawingml/2006/main">
              <a:ext uri="{FF2B5EF4-FFF2-40B4-BE49-F238E27FC236}">
                <a16:creationId xmlns:a16="http://schemas.microsoft.com/office/drawing/2014/main" id="{35436A20-45A8-473C-92BD-53DEA9F9959E}"/>
              </a:ext>
            </a:extLst>
          </p:cNvPr>
          <p:cNvSpPr>
            <a:spLocks xmlns:a="http://schemas.openxmlformats.org/drawingml/2006/main" noGrp="1"/>
          </p:cNvSpPr>
          <p:nvPr/>
        </p:nvSpPr>
        <p:spPr>
          <a:xfrm xmlns:a="http://schemas.openxmlformats.org/drawingml/2006/main">
            <a:off x="619125" y="5953125"/>
            <a:ext cx="962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7C5D3"/>
                </a:solidFill>
                <a:latin typeface="Arial"/>
                <a:ea typeface="Arial"/>
                <a:cs typeface="Arial"/>
              </a:defRPr>
            </a:pPr>
            <a:r>
              <a:rPr sz="1725" b="0">
                <a:solidFill>
                  <a:srgbClr val="B7C5D3"/>
                </a:solidFill>
                <a:latin typeface="Arial"/>
                <a:ea typeface="Arial"/>
                <a:cs typeface="Arial"/>
              </a:rPr>
              <a:t>[Department]    ·    [Academic year]</a:t>
            </a:r>
          </a:p>
        </p:txBody>
      </p:sp>
    </p:spTree>
    <p:extLst>
      <p:ext uri="{BB962C8B-B14F-4D97-AF65-F5344CB8AC3E}">
        <p14:creationId xmlns:p14="http://schemas.microsoft.com/office/powerpoint/2010/main" val="53062049"/>
      </p:ext>
    </p:extLst>
  </p:cSld>
</p:sld>
</file>

<file path=ppt/slides/slide2.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E04481-2612-418F-9599-5B942B170F92}"/>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72319B32-128A-4391-8CA4-5466D809308D}"/>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Problem and proposed solution</a:t>
            </a:r>
          </a:p>
        </p:txBody>
      </p:sp>
      <p:sp>
        <p:nvSpPr>
          <p:cNvPr id="3" name="">
            <a:extLst xmlns:a="http://schemas.openxmlformats.org/drawingml/2006/main">
              <a:ext uri="{FF2B5EF4-FFF2-40B4-BE49-F238E27FC236}">
                <a16:creationId xmlns:a16="http://schemas.microsoft.com/office/drawing/2014/main" id="{759920D7-A604-4D8D-9933-D49FE4CBA457}"/>
              </a:ext>
            </a:extLst>
          </p:cNvPr>
          <p:cNvSpPr>
            <a:spLocks xmlns:a="http://schemas.openxmlformats.org/drawingml/2006/main" noGrp="1"/>
          </p:cNvSpPr>
          <p:nvPr/>
        </p:nvSpPr>
        <p:spPr>
          <a:xfrm xmlns:a="http://schemas.openxmlformats.org/drawingml/2006/main">
            <a:off x="590550" y="1438275"/>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B7C5D3"/>
                </a:solidFill>
                <a:latin typeface="Arial"/>
                <a:ea typeface="Arial"/>
                <a:cs typeface="Arial"/>
              </a:defRPr>
            </a:pPr>
            <a:r>
              <a:rPr sz="2325" b="1">
                <a:solidFill>
                  <a:srgbClr val="B7C5D3"/>
                </a:solidFill>
                <a:latin typeface="Arial"/>
                <a:ea typeface="Arial"/>
                <a:cs typeface="Arial"/>
              </a:rPr>
              <a:t>Before PACE AI</a:t>
            </a:r>
          </a:p>
        </p:txBody>
      </p:sp>
      <p:sp>
        <p:nvSpPr>
          <p:cNvPr id="4" name="">
            <a:extLst xmlns:a="http://schemas.openxmlformats.org/drawingml/2006/main">
              <a:ext uri="{FF2B5EF4-FFF2-40B4-BE49-F238E27FC236}">
                <a16:creationId xmlns:a16="http://schemas.microsoft.com/office/drawing/2014/main" id="{F3A1D400-41C9-44CE-9FD6-60E83BB72BB8}"/>
              </a:ext>
            </a:extLst>
          </p:cNvPr>
          <p:cNvSpPr>
            <a:spLocks xmlns:a="http://schemas.openxmlformats.org/drawingml/2006/main" noGrp="1"/>
          </p:cNvSpPr>
          <p:nvPr/>
        </p:nvSpPr>
        <p:spPr>
          <a:xfrm xmlns:a="http://schemas.openxmlformats.org/drawingml/2006/main">
            <a:off x="590550" y="2114550"/>
            <a:ext cx="4619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F2F6FA"/>
                </a:solidFill>
                <a:latin typeface="Arial"/>
                <a:ea typeface="Arial"/>
                <a:cs typeface="Arial"/>
              </a:defRPr>
            </a:pPr>
            <a:r>
              <a:rPr sz="2625" b="1">
                <a:solidFill>
                  <a:srgbClr val="F2F6FA"/>
                </a:solidFill>
                <a:latin typeface="Arial"/>
                <a:ea typeface="Arial"/>
                <a:cs typeface="Arial"/>
              </a:rPr>
              <a:t>Information spread across</a:t>
            </a:r>
          </a:p>
          <a:p xmlns:a="http://schemas.openxmlformats.org/drawingml/2006/main">
            <a:pPr>
              <a:defRPr sz="2625" b="1">
                <a:solidFill>
                  <a:srgbClr val="F2F6FA"/>
                </a:solidFill>
                <a:latin typeface="Arial"/>
                <a:ea typeface="Arial"/>
                <a:cs typeface="Arial"/>
              </a:defRPr>
            </a:pPr>
            <a:r>
              <a:rPr sz="2625" b="1">
                <a:solidFill>
                  <a:srgbClr val="F2F6FA"/>
                </a:solidFill>
                <a:latin typeface="Arial"/>
                <a:ea typeface="Arial"/>
                <a:cs typeface="Arial"/>
              </a:rPr>
              <a:t>webpages and long PDFs</a:t>
            </a:r>
          </a:p>
        </p:txBody>
      </p:sp>
      <p:sp>
        <p:nvSpPr>
          <p:cNvPr id="5" name="">
            <a:extLst xmlns:a="http://schemas.openxmlformats.org/drawingml/2006/main">
              <a:ext uri="{FF2B5EF4-FFF2-40B4-BE49-F238E27FC236}">
                <a16:creationId xmlns:a16="http://schemas.microsoft.com/office/drawing/2014/main" id="{088BCF02-7DC4-4A12-B52B-9B18A36018F3}"/>
              </a:ext>
            </a:extLst>
          </p:cNvPr>
          <p:cNvSpPr>
            <a:spLocks xmlns:a="http://schemas.openxmlformats.org/drawingml/2006/main" noGrp="1"/>
          </p:cNvSpPr>
          <p:nvPr/>
        </p:nvSpPr>
        <p:spPr>
          <a:xfrm xmlns:a="http://schemas.openxmlformats.org/drawingml/2006/main">
            <a:off x="590550" y="3438525"/>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B7C5D3"/>
                </a:solidFill>
                <a:latin typeface="Arial"/>
                <a:ea typeface="Arial"/>
                <a:cs typeface="Arial"/>
              </a:defRPr>
            </a:pPr>
            <a:r>
              <a:rPr sz="2100" b="0">
                <a:solidFill>
                  <a:srgbClr val="B7C5D3"/>
                </a:solidFill>
                <a:latin typeface="Arial"/>
                <a:ea typeface="Arial"/>
                <a:cs typeface="Arial"/>
              </a:rPr>
              <a:t>Syllabi and regulations</a:t>
            </a:r>
          </a:p>
          <a:p xmlns:a="http://schemas.openxmlformats.org/drawingml/2006/main">
            <a:pPr>
              <a:defRPr sz="2100" b="0">
                <a:solidFill>
                  <a:srgbClr val="B7C5D3"/>
                </a:solidFill>
                <a:latin typeface="Arial"/>
                <a:ea typeface="Arial"/>
                <a:cs typeface="Arial"/>
              </a:defRPr>
            </a:pPr>
            <a:r>
              <a:rPr sz="2100" b="0">
                <a:solidFill>
                  <a:srgbClr val="B7C5D3"/>
                </a:solidFill>
                <a:latin typeface="Arial"/>
                <a:ea typeface="Arial"/>
                <a:cs typeface="Arial"/>
              </a:rPr>
              <a:t>Admissions and placements</a:t>
            </a:r>
          </a:p>
          <a:p xmlns:a="http://schemas.openxmlformats.org/drawingml/2006/main">
            <a:pPr>
              <a:defRPr sz="2100" b="0">
                <a:solidFill>
                  <a:srgbClr val="B7C5D3"/>
                </a:solidFill>
                <a:latin typeface="Arial"/>
                <a:ea typeface="Arial"/>
                <a:cs typeface="Arial"/>
              </a:defRPr>
            </a:pPr>
            <a:r>
              <a:rPr sz="2100" b="0">
                <a:solidFill>
                  <a:srgbClr val="B7C5D3"/>
                </a:solidFill>
                <a:latin typeface="Arial"/>
                <a:ea typeface="Arial"/>
                <a:cs typeface="Arial"/>
              </a:rPr>
              <a:t>Repeated manual searching</a:t>
            </a:r>
          </a:p>
        </p:txBody>
      </p:sp>
      <p:sp>
        <p:nvSpPr>
          <p:cNvPr id="6" name="">
            <a:extLst xmlns:a="http://schemas.openxmlformats.org/drawingml/2006/main">
              <a:ext uri="{FF2B5EF4-FFF2-40B4-BE49-F238E27FC236}">
                <a16:creationId xmlns:a16="http://schemas.microsoft.com/office/drawing/2014/main" id="{AE346958-2B4B-49F7-92E2-DC82A0929174}"/>
              </a:ext>
            </a:extLst>
          </p:cNvPr>
          <p:cNvSpPr>
            <a:spLocks xmlns:a="http://schemas.openxmlformats.org/drawingml/2006/main" noGrp="1"/>
          </p:cNvSpPr>
          <p:nvPr/>
        </p:nvSpPr>
        <p:spPr>
          <a:xfrm xmlns:a="http://schemas.openxmlformats.org/drawingml/2006/main">
            <a:off x="5857875" y="1438275"/>
            <a:ext cx="566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69D4E8"/>
                </a:solidFill>
                <a:latin typeface="Arial"/>
                <a:ea typeface="Arial"/>
                <a:cs typeface="Arial"/>
              </a:defRPr>
            </a:pPr>
            <a:r>
              <a:rPr sz="2325" b="1">
                <a:solidFill>
                  <a:srgbClr val="69D4E8"/>
                </a:solidFill>
                <a:latin typeface="Arial"/>
                <a:ea typeface="Arial"/>
                <a:cs typeface="Arial"/>
              </a:rPr>
              <a:t>With PACE AI</a:t>
            </a:r>
          </a:p>
        </p:txBody>
      </p:sp>
      <p:sp>
        <p:nvSpPr>
          <p:cNvPr id="7" name="">
            <a:extLst xmlns:a="http://schemas.openxmlformats.org/drawingml/2006/main">
              <a:ext uri="{FF2B5EF4-FFF2-40B4-BE49-F238E27FC236}">
                <a16:creationId xmlns:a16="http://schemas.microsoft.com/office/drawing/2014/main" id="{B2968929-3D4E-4341-888F-2A88FA16C940}"/>
              </a:ext>
            </a:extLst>
          </p:cNvPr>
          <p:cNvSpPr>
            <a:spLocks xmlns:a="http://schemas.openxmlformats.org/drawingml/2006/main" noGrp="1"/>
          </p:cNvSpPr>
          <p:nvPr/>
        </p:nvSpPr>
        <p:spPr>
          <a:xfrm xmlns:a="http://schemas.openxmlformats.org/drawingml/2006/main">
            <a:off x="5857875" y="20669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F2F6FA"/>
                </a:solidFill>
                <a:latin typeface="Arial"/>
                <a:ea typeface="Arial"/>
                <a:cs typeface="Arial"/>
              </a:defRPr>
            </a:pPr>
            <a:r>
              <a:rPr sz="2475" b="1">
                <a:solidFill>
                  <a:srgbClr val="F2F6FA"/>
                </a:solidFill>
                <a:latin typeface="Arial"/>
                <a:ea typeface="Arial"/>
                <a:cs typeface="Arial"/>
              </a:rPr>
              <a:t>One question with official evidence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aed4e85660246dd"/>
          <a:stretch xmlns:a="http://schemas.openxmlformats.org/drawingml/2006/main"/>
        </p:blipFill>
        <p:spPr>
          <a:xfrm xmlns:a="http://schemas.openxmlformats.org/drawingml/2006/main">
            <a:off x="6650038" y="2857500"/>
            <a:ext cx="4064000" cy="2286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FE26F9D-AC88-46F6-B6CC-ACB9D653E7BB}"/>
              </a:ext>
            </a:extLst>
          </p:cNvPr>
          <p:cNvSpPr>
            <a:spLocks xmlns:a="http://schemas.openxmlformats.org/drawingml/2006/main" noGrp="1"/>
          </p:cNvSpPr>
          <p:nvPr/>
        </p:nvSpPr>
        <p:spPr>
          <a:xfrm xmlns:a="http://schemas.openxmlformats.org/drawingml/2006/main">
            <a:off x="5857875" y="5400675"/>
            <a:ext cx="552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69D4E8"/>
                </a:solidFill>
                <a:latin typeface="Arial"/>
                <a:ea typeface="Arial"/>
                <a:cs typeface="Arial"/>
              </a:defRPr>
            </a:pPr>
            <a:r>
              <a:rPr sz="1950" b="0">
                <a:solidFill>
                  <a:srgbClr val="69D4E8"/>
                </a:solidFill>
                <a:latin typeface="Arial"/>
                <a:ea typeface="Arial"/>
                <a:cs typeface="Arial"/>
              </a:rPr>
              <a:t>Answer text links back to the exact</a:t>
            </a:r>
          </a:p>
          <a:p xmlns:a="http://schemas.openxmlformats.org/drawingml/2006/main">
            <a:pPr>
              <a:defRPr sz="1950" b="0">
                <a:solidFill>
                  <a:srgbClr val="69D4E8"/>
                </a:solidFill>
                <a:latin typeface="Arial"/>
                <a:ea typeface="Arial"/>
                <a:cs typeface="Arial"/>
              </a:defRPr>
            </a:pPr>
            <a:r>
              <a:rPr sz="1950" b="0">
                <a:solidFill>
                  <a:srgbClr val="69D4E8"/>
                </a:solidFill>
                <a:latin typeface="Arial"/>
                <a:ea typeface="Arial"/>
                <a:cs typeface="Arial"/>
              </a:rPr>
              <a:t>webpage or PDF page.</a:t>
            </a:r>
          </a:p>
        </p:txBody>
      </p:sp>
    </p:spTree>
    <p:extLst>
      <p:ext uri="{BB962C8B-B14F-4D97-AF65-F5344CB8AC3E}">
        <p14:creationId xmlns:p14="http://schemas.microsoft.com/office/powerpoint/2010/main" val="345007736"/>
      </p:ext>
    </p:extLst>
  </p:cSld>
</p:sld>
</file>

<file path=ppt/slides/slide3.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3DD9DD-65CD-450A-9B5B-C586EC0F3ABE}"/>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26B0D2CC-0210-460D-9C64-825C3B206055}"/>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Current interface and features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25875eaab1145b5"/>
          <a:stretch xmlns:a="http://schemas.openxmlformats.org/drawingml/2006/main"/>
        </p:blipFill>
        <p:spPr>
          <a:xfrm xmlns:a="http://schemas.openxmlformats.org/drawingml/2006/main">
            <a:off x="524933" y="1543050"/>
            <a:ext cx="7636933" cy="4295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835CE5-AD9C-4F85-959D-B641781FCF39}"/>
              </a:ext>
            </a:extLst>
          </p:cNvPr>
          <p:cNvSpPr>
            <a:spLocks xmlns:a="http://schemas.openxmlformats.org/drawingml/2006/main" noGrp="1"/>
          </p:cNvSpPr>
          <p:nvPr/>
        </p:nvSpPr>
        <p:spPr>
          <a:xfrm xmlns:a="http://schemas.openxmlformats.org/drawingml/2006/main">
            <a:off x="8543925" y="147637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69D4E8"/>
                </a:solidFill>
                <a:latin typeface="Arial"/>
                <a:ea typeface="Arial"/>
                <a:cs typeface="Arial"/>
              </a:defRPr>
            </a:pPr>
            <a:r>
              <a:rPr sz="2100" b="1">
                <a:solidFill>
                  <a:srgbClr val="69D4E8"/>
                </a:solidFill>
                <a:latin typeface="Arial"/>
                <a:ea typeface="Arial"/>
                <a:cs typeface="Arial"/>
              </a:rPr>
              <a:t>Grounded answers</a:t>
            </a:r>
          </a:p>
        </p:txBody>
      </p:sp>
      <p:sp>
        <p:nvSpPr>
          <p:cNvPr id="5" name="">
            <a:extLst xmlns:a="http://schemas.openxmlformats.org/drawingml/2006/main">
              <a:ext uri="{FF2B5EF4-FFF2-40B4-BE49-F238E27FC236}">
                <a16:creationId xmlns:a16="http://schemas.microsoft.com/office/drawing/2014/main" id="{FC7666E6-1E59-4088-AB1E-241BB8FEAD20}"/>
              </a:ext>
            </a:extLst>
          </p:cNvPr>
          <p:cNvSpPr>
            <a:spLocks xmlns:a="http://schemas.openxmlformats.org/drawingml/2006/main" noGrp="1"/>
          </p:cNvSpPr>
          <p:nvPr/>
        </p:nvSpPr>
        <p:spPr>
          <a:xfrm xmlns:a="http://schemas.openxmlformats.org/drawingml/2006/main">
            <a:off x="8543925" y="1924050"/>
            <a:ext cx="3095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Gemini streaming</a:t>
            </a:r>
          </a:p>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Evidence-based refusals</a:t>
            </a:r>
          </a:p>
        </p:txBody>
      </p:sp>
      <p:sp>
        <p:nvSpPr>
          <p:cNvPr id="6" name="">
            <a:extLst xmlns:a="http://schemas.openxmlformats.org/drawingml/2006/main">
              <a:ext uri="{FF2B5EF4-FFF2-40B4-BE49-F238E27FC236}">
                <a16:creationId xmlns:a16="http://schemas.microsoft.com/office/drawing/2014/main" id="{596987EB-F5D4-4392-B29D-DE79178C155E}"/>
              </a:ext>
            </a:extLst>
          </p:cNvPr>
          <p:cNvSpPr>
            <a:spLocks xmlns:a="http://schemas.openxmlformats.org/drawingml/2006/main" noGrp="1"/>
          </p:cNvSpPr>
          <p:nvPr/>
        </p:nvSpPr>
        <p:spPr>
          <a:xfrm xmlns:a="http://schemas.openxmlformats.org/drawingml/2006/main">
            <a:off x="8543925" y="28575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69D4E8"/>
                </a:solidFill>
                <a:latin typeface="Arial"/>
                <a:ea typeface="Arial"/>
                <a:cs typeface="Arial"/>
              </a:defRPr>
            </a:pPr>
            <a:r>
              <a:rPr sz="2100" b="1">
                <a:solidFill>
                  <a:srgbClr val="69D4E8"/>
                </a:solidFill>
                <a:latin typeface="Arial"/>
                <a:ea typeface="Arial"/>
                <a:cs typeface="Arial"/>
              </a:rPr>
              <a:t>Relevant retrieval</a:t>
            </a:r>
          </a:p>
        </p:txBody>
      </p:sp>
      <p:sp>
        <p:nvSpPr>
          <p:cNvPr id="7" name="">
            <a:extLst xmlns:a="http://schemas.openxmlformats.org/drawingml/2006/main">
              <a:ext uri="{FF2B5EF4-FFF2-40B4-BE49-F238E27FC236}">
                <a16:creationId xmlns:a16="http://schemas.microsoft.com/office/drawing/2014/main" id="{50DE791C-CA97-447C-9F02-BA4857934FA9}"/>
              </a:ext>
            </a:extLst>
          </p:cNvPr>
          <p:cNvSpPr>
            <a:spLocks xmlns:a="http://schemas.openxmlformats.org/drawingml/2006/main" noGrp="1"/>
          </p:cNvSpPr>
          <p:nvPr/>
        </p:nvSpPr>
        <p:spPr>
          <a:xfrm xmlns:a="http://schemas.openxmlformats.org/drawingml/2006/main">
            <a:off x="8543925" y="3305175"/>
            <a:ext cx="3095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FAISS + BM25</a:t>
            </a:r>
          </a:p>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Branch and regulation filters</a:t>
            </a:r>
          </a:p>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Token-aware chunks</a:t>
            </a:r>
          </a:p>
        </p:txBody>
      </p:sp>
      <p:sp>
        <p:nvSpPr>
          <p:cNvPr id="8" name="">
            <a:extLst xmlns:a="http://schemas.openxmlformats.org/drawingml/2006/main">
              <a:ext uri="{FF2B5EF4-FFF2-40B4-BE49-F238E27FC236}">
                <a16:creationId xmlns:a16="http://schemas.microsoft.com/office/drawing/2014/main" id="{2B2D96BE-6BB8-4C75-9F4D-11C824D565D4}"/>
              </a:ext>
            </a:extLst>
          </p:cNvPr>
          <p:cNvSpPr>
            <a:spLocks xmlns:a="http://schemas.openxmlformats.org/drawingml/2006/main" noGrp="1"/>
          </p:cNvSpPr>
          <p:nvPr/>
        </p:nvSpPr>
        <p:spPr>
          <a:xfrm xmlns:a="http://schemas.openxmlformats.org/drawingml/2006/main">
            <a:off x="8543925" y="45148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69D4E8"/>
                </a:solidFill>
                <a:latin typeface="Arial"/>
                <a:ea typeface="Arial"/>
                <a:cs typeface="Arial"/>
              </a:defRPr>
            </a:pPr>
            <a:r>
              <a:rPr sz="2100" b="1">
                <a:solidFill>
                  <a:srgbClr val="69D4E8"/>
                </a:solidFill>
                <a:latin typeface="Arial"/>
                <a:ea typeface="Arial"/>
                <a:cs typeface="Arial"/>
              </a:rPr>
              <a:t>Traceable results</a:t>
            </a:r>
          </a:p>
        </p:txBody>
      </p:sp>
      <p:sp>
        <p:nvSpPr>
          <p:cNvPr id="9" name="">
            <a:extLst xmlns:a="http://schemas.openxmlformats.org/drawingml/2006/main">
              <a:ext uri="{FF2B5EF4-FFF2-40B4-BE49-F238E27FC236}">
                <a16:creationId xmlns:a16="http://schemas.microsoft.com/office/drawing/2014/main" id="{91F7BCEA-9360-404A-89A8-CD0D9466FE12}"/>
              </a:ext>
            </a:extLst>
          </p:cNvPr>
          <p:cNvSpPr>
            <a:spLocks xmlns:a="http://schemas.openxmlformats.org/drawingml/2006/main" noGrp="1"/>
          </p:cNvSpPr>
          <p:nvPr/>
        </p:nvSpPr>
        <p:spPr>
          <a:xfrm xmlns:a="http://schemas.openxmlformats.org/drawingml/2006/main">
            <a:off x="8543925" y="4962525"/>
            <a:ext cx="3095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PDF pages and source cards</a:t>
            </a:r>
          </a:p>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Retrieval cache</a:t>
            </a:r>
          </a:p>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Safe index rollback</a:t>
            </a:r>
          </a:p>
        </p:txBody>
      </p:sp>
    </p:spTree>
    <p:extLst>
      <p:ext uri="{BB962C8B-B14F-4D97-AF65-F5344CB8AC3E}">
        <p14:creationId xmlns:p14="http://schemas.microsoft.com/office/powerpoint/2010/main" val="1387574665"/>
      </p:ext>
    </p:extLst>
  </p:cSld>
</p:sld>
</file>

<file path=ppt/slides/slide4.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C495E6D-6515-4AE8-BCF1-F41CD11A851E}"/>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3F5BE4A8-E065-4785-A00B-4AF8D2A05307}"/>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System architecture</a:t>
            </a:r>
          </a:p>
        </p:txBody>
      </p:sp>
      <p:sp>
        <p:nvSpPr>
          <p:cNvPr id="3" name="">
            <a:extLst xmlns:a="http://schemas.openxmlformats.org/drawingml/2006/main">
              <a:ext uri="{FF2B5EF4-FFF2-40B4-BE49-F238E27FC236}">
                <a16:creationId xmlns:a16="http://schemas.microsoft.com/office/drawing/2014/main" id="{776406AB-F013-476E-B494-0ADA0BF93BD8}"/>
              </a:ext>
            </a:extLst>
          </p:cNvPr>
          <p:cNvSpPr>
            <a:spLocks xmlns:a="http://schemas.openxmlformats.org/drawingml/2006/main" noGrp="1"/>
          </p:cNvSpPr>
          <p:nvPr/>
        </p:nvSpPr>
        <p:spPr>
          <a:xfrm xmlns:a="http://schemas.openxmlformats.org/drawingml/2006/main">
            <a:off x="590550" y="13335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1">
                <a:solidFill>
                  <a:srgbClr val="B7C5D3"/>
                </a:solidFill>
                <a:latin typeface="Arial"/>
                <a:ea typeface="Arial"/>
                <a:cs typeface="Arial"/>
              </a:defRPr>
            </a:pPr>
            <a:r>
              <a:rPr sz="1425" b="1">
                <a:solidFill>
                  <a:srgbClr val="B7C5D3"/>
                </a:solidFill>
                <a:latin typeface="Arial"/>
                <a:ea typeface="Arial"/>
                <a:cs typeface="Arial"/>
              </a:rPr>
              <a:t>OFFLINE PREPARATION</a:t>
            </a:r>
          </a:p>
        </p:txBody>
      </p:sp>
      <p:sp>
        <p:nvSpPr>
          <p:cNvPr id="4" name="">
            <a:extLst xmlns:a="http://schemas.openxmlformats.org/drawingml/2006/main">
              <a:ext uri="{FF2B5EF4-FFF2-40B4-BE49-F238E27FC236}">
                <a16:creationId xmlns:a16="http://schemas.microsoft.com/office/drawing/2014/main" id="{BB70D883-088D-4933-A0EB-8EE09690CA6C}"/>
              </a:ext>
            </a:extLst>
          </p:cNvPr>
          <p:cNvSpPr>
            <a:spLocks xmlns:a="http://schemas.openxmlformats.org/drawingml/2006/main" noGrp="1"/>
          </p:cNvSpPr>
          <p:nvPr/>
        </p:nvSpPr>
        <p:spPr>
          <a:xfrm xmlns:a="http://schemas.openxmlformats.org/drawingml/2006/main">
            <a:off x="6000750" y="1333500"/>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1">
                <a:solidFill>
                  <a:srgbClr val="B7C5D3"/>
                </a:solidFill>
                <a:latin typeface="Arial"/>
                <a:ea typeface="Arial"/>
                <a:cs typeface="Arial"/>
              </a:defRPr>
            </a:pPr>
            <a:r>
              <a:rPr sz="1425" b="1">
                <a:solidFill>
                  <a:srgbClr val="B7C5D3"/>
                </a:solidFill>
                <a:latin typeface="Arial"/>
                <a:ea typeface="Arial"/>
                <a:cs typeface="Arial"/>
              </a:rPr>
              <a:t>QUESTION-TIME PROCESSING</a:t>
            </a:r>
          </a:p>
        </p:txBody>
      </p:sp>
      <p:sp>
        <p:nvSpPr>
          <p:cNvPr id="5" name="">
            <a:extLst xmlns:a="http://schemas.openxmlformats.org/drawingml/2006/main">
              <a:ext uri="{FF2B5EF4-FFF2-40B4-BE49-F238E27FC236}">
                <a16:creationId xmlns:a16="http://schemas.microsoft.com/office/drawing/2014/main" id="{8E2A529C-33AF-483E-9730-53D2951E88CD}"/>
              </a:ext>
            </a:extLst>
          </p:cNvPr>
          <p:cNvSpPr>
            <a:spLocks xmlns:a="http://schemas.openxmlformats.org/drawingml/2006/main" noGrp="1"/>
          </p:cNvSpPr>
          <p:nvPr/>
        </p:nvSpPr>
        <p:spPr>
          <a:xfrm xmlns:a="http://schemas.openxmlformats.org/drawingml/2006/main">
            <a:off x="590550" y="1838325"/>
            <a:ext cx="45529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Public PACE webpages + PDFs</a:t>
            </a:r>
          </a:p>
        </p:txBody>
      </p:sp>
      <p:sp>
        <p:nvSpPr>
          <p:cNvPr id="6" name="">
            <a:extLst xmlns:a="http://schemas.openxmlformats.org/drawingml/2006/main">
              <a:ext uri="{FF2B5EF4-FFF2-40B4-BE49-F238E27FC236}">
                <a16:creationId xmlns:a16="http://schemas.microsoft.com/office/drawing/2014/main" id="{6DFC4015-600C-4D46-8FDC-693D1381D7D2}"/>
              </a:ext>
            </a:extLst>
          </p:cNvPr>
          <p:cNvSpPr>
            <a:spLocks xmlns:a="http://schemas.openxmlformats.org/drawingml/2006/main" noGrp="1"/>
          </p:cNvSpPr>
          <p:nvPr/>
        </p:nvSpPr>
        <p:spPr>
          <a:xfrm xmlns:a="http://schemas.openxmlformats.org/drawingml/2006/main">
            <a:off x="590550" y="2752725"/>
            <a:ext cx="45529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Crawl, extract and clean</a:t>
            </a:r>
          </a:p>
        </p:txBody>
      </p:sp>
      <p:sp>
        <p:nvSpPr>
          <p:cNvPr id="7" name="">
            <a:extLst xmlns:a="http://schemas.openxmlformats.org/drawingml/2006/main">
              <a:ext uri="{FF2B5EF4-FFF2-40B4-BE49-F238E27FC236}">
                <a16:creationId xmlns:a16="http://schemas.microsoft.com/office/drawing/2014/main" id="{346F1E85-6EE3-49F6-B181-FB7FAF64BCA5}"/>
              </a:ext>
            </a:extLst>
          </p:cNvPr>
          <p:cNvSpPr>
            <a:spLocks xmlns:a="http://schemas.openxmlformats.org/drawingml/2006/main" noGrp="1"/>
          </p:cNvSpPr>
          <p:nvPr/>
        </p:nvSpPr>
        <p:spPr>
          <a:xfrm xmlns:a="http://schemas.openxmlformats.org/drawingml/2006/main">
            <a:off x="590550" y="3667125"/>
            <a:ext cx="45529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Token-aware chunks</a:t>
            </a:r>
          </a:p>
        </p:txBody>
      </p:sp>
      <p:cxnSp>
        <p:nvCxnSpPr>
          <p:cNvPr id="35" name=""/>
          <p:cNvCxnSpPr>
            <a:stCxn xmlns:a="http://schemas.openxmlformats.org/drawingml/2006/main" id="5" idx="2"/>
            <a:endCxn xmlns:a="http://schemas.openxmlformats.org/drawingml/2006/main" id="6" idx="0"/>
          </p:cNvCxnSpPr>
          <p:nvPr/>
        </p:nvCxnSpPr>
        <p:spPr>
          <a:xfrm xmlns:a="http://schemas.openxmlformats.org/drawingml/2006/main">
            <a:off x="2867025" y="2428875"/>
            <a:ext cx="0" cy="32385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36" name=""/>
          <p:cNvCxnSpPr>
            <a:stCxn xmlns:a="http://schemas.openxmlformats.org/drawingml/2006/main" id="6" idx="2"/>
            <a:endCxn xmlns:a="http://schemas.openxmlformats.org/drawingml/2006/main" id="7" idx="0"/>
          </p:cNvCxnSpPr>
          <p:nvPr/>
        </p:nvCxnSpPr>
        <p:spPr>
          <a:xfrm xmlns:a="http://schemas.openxmlformats.org/drawingml/2006/main">
            <a:off x="2867025" y="3343275"/>
            <a:ext cx="0" cy="32385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10" name="">
            <a:extLst xmlns:a="http://schemas.openxmlformats.org/drawingml/2006/main">
              <a:ext uri="{FF2B5EF4-FFF2-40B4-BE49-F238E27FC236}">
                <a16:creationId xmlns:a16="http://schemas.microsoft.com/office/drawing/2014/main" id="{D7199334-EEC3-489F-8599-4E996959A217}"/>
              </a:ext>
            </a:extLst>
          </p:cNvPr>
          <p:cNvSpPr>
            <a:spLocks xmlns:a="http://schemas.openxmlformats.org/drawingml/2006/main" noGrp="1"/>
          </p:cNvSpPr>
          <p:nvPr/>
        </p:nvSpPr>
        <p:spPr>
          <a:xfrm xmlns:a="http://schemas.openxmlformats.org/drawingml/2006/main">
            <a:off x="590550" y="4781550"/>
            <a:ext cx="2105025" cy="8191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BGE embeddings</a:t>
            </a:r>
          </a:p>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FAISS vectors</a:t>
            </a:r>
          </a:p>
        </p:txBody>
      </p:sp>
      <p:sp>
        <p:nvSpPr>
          <p:cNvPr id="11" name="">
            <a:extLst xmlns:a="http://schemas.openxmlformats.org/drawingml/2006/main">
              <a:ext uri="{FF2B5EF4-FFF2-40B4-BE49-F238E27FC236}">
                <a16:creationId xmlns:a16="http://schemas.microsoft.com/office/drawing/2014/main" id="{6D570294-3A8F-48FE-9156-530FA65124EB}"/>
              </a:ext>
            </a:extLst>
          </p:cNvPr>
          <p:cNvSpPr>
            <a:spLocks xmlns:a="http://schemas.openxmlformats.org/drawingml/2006/main" noGrp="1"/>
          </p:cNvSpPr>
          <p:nvPr/>
        </p:nvSpPr>
        <p:spPr>
          <a:xfrm xmlns:a="http://schemas.openxmlformats.org/drawingml/2006/main">
            <a:off x="3038475" y="4781550"/>
            <a:ext cx="2105025" cy="8191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BM25 tokens</a:t>
            </a:r>
          </a:p>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Keyword index</a:t>
            </a:r>
          </a:p>
        </p:txBody>
      </p:sp>
      <p:cxnSp>
        <p:nvCxnSpPr>
          <p:cNvPr id="39" name=""/>
          <p:cNvCxnSpPr>
            <a:stCxn xmlns:a="http://schemas.openxmlformats.org/drawingml/2006/main" id="7" idx="2"/>
            <a:endCxn xmlns:a="http://schemas.openxmlformats.org/drawingml/2006/main" id="10" idx="0"/>
          </p:cNvCxnSpPr>
          <p:nvPr/>
        </p:nvCxnSpPr>
        <p:spPr>
          <a:xfrm xmlns:a="http://schemas.openxmlformats.org/drawingml/2006/main" flipH="1">
            <a:off x="1643063" y="4257675"/>
            <a:ext cx="1223963" cy="523875"/>
          </a:xfrm>
          <a:prstGeom xmlns:a="http://schemas.openxmlformats.org/drawingml/2006/main" prst="bentConnector4">
            <a:avLst>
              <a:gd name="adj1" fmla="val 0"/>
              <a:gd name="adj2" fmla="val 50000"/>
            </a:avLst>
          </a:prstGeom>
          <a:ln xmlns:a="http://schemas.openxmlformats.org/drawingml/2006/main" w="19050">
            <a:solidFill>
              <a:srgbClr val="69D4E8"/>
            </a:solidFill>
            <a:tailEnd type="arrow" w="sm" len="sm"/>
          </a:ln>
        </p:spPr>
      </p:cxnSp>
      <p:cxnSp>
        <p:nvCxnSpPr>
          <p:cNvPr id="40" name=""/>
          <p:cNvCxnSpPr>
            <a:stCxn xmlns:a="http://schemas.openxmlformats.org/drawingml/2006/main" id="7" idx="2"/>
            <a:endCxn xmlns:a="http://schemas.openxmlformats.org/drawingml/2006/main" id="11" idx="0"/>
          </p:cNvCxnSpPr>
          <p:nvPr/>
        </p:nvCxnSpPr>
        <p:spPr>
          <a:xfrm xmlns:a="http://schemas.openxmlformats.org/drawingml/2006/main">
            <a:off x="2867025" y="4257675"/>
            <a:ext cx="1223963" cy="523875"/>
          </a:xfrm>
          <a:prstGeom xmlns:a="http://schemas.openxmlformats.org/drawingml/2006/main" prst="bentConnector4">
            <a:avLst>
              <a:gd name="adj1" fmla="val 0"/>
              <a:gd name="adj2" fmla="val 50000"/>
            </a:avLst>
          </a:prstGeom>
          <a:ln xmlns:a="http://schemas.openxmlformats.org/drawingml/2006/main" w="19050">
            <a:solidFill>
              <a:srgbClr val="69D4E8"/>
            </a:solidFill>
            <a:tailEnd type="arrow" w="sm" len="sm"/>
          </a:ln>
        </p:spPr>
      </p:cxnSp>
      <p:sp>
        <p:nvSpPr>
          <p:cNvPr id="14" name="">
            <a:extLst xmlns:a="http://schemas.openxmlformats.org/drawingml/2006/main">
              <a:ext uri="{FF2B5EF4-FFF2-40B4-BE49-F238E27FC236}">
                <a16:creationId xmlns:a16="http://schemas.microsoft.com/office/drawing/2014/main" id="{E3763749-F5F1-4746-976B-60EE25195372}"/>
              </a:ext>
            </a:extLst>
          </p:cNvPr>
          <p:cNvSpPr>
            <a:spLocks xmlns:a="http://schemas.openxmlformats.org/drawingml/2006/main" noGrp="1"/>
          </p:cNvSpPr>
          <p:nvPr/>
        </p:nvSpPr>
        <p:spPr>
          <a:xfrm xmlns:a="http://schemas.openxmlformats.org/drawingml/2006/main">
            <a:off x="6219825" y="1838325"/>
            <a:ext cx="50101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Hybrid retrieval</a:t>
            </a:r>
          </a:p>
        </p:txBody>
      </p:sp>
      <p:sp>
        <p:nvSpPr>
          <p:cNvPr id="15" name="">
            <a:extLst xmlns:a="http://schemas.openxmlformats.org/drawingml/2006/main">
              <a:ext uri="{FF2B5EF4-FFF2-40B4-BE49-F238E27FC236}">
                <a16:creationId xmlns:a16="http://schemas.microsoft.com/office/drawing/2014/main" id="{8C2245DA-9C4A-412C-9D24-3303526E12CA}"/>
              </a:ext>
            </a:extLst>
          </p:cNvPr>
          <p:cNvSpPr>
            <a:spLocks xmlns:a="http://schemas.openxmlformats.org/drawingml/2006/main" noGrp="1"/>
          </p:cNvSpPr>
          <p:nvPr/>
        </p:nvSpPr>
        <p:spPr>
          <a:xfrm xmlns:a="http://schemas.openxmlformats.org/drawingml/2006/main">
            <a:off x="6219825" y="2752725"/>
            <a:ext cx="50101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Evidence filtering</a:t>
            </a:r>
          </a:p>
        </p:txBody>
      </p:sp>
      <p:sp>
        <p:nvSpPr>
          <p:cNvPr id="16" name="">
            <a:extLst xmlns:a="http://schemas.openxmlformats.org/drawingml/2006/main">
              <a:ext uri="{FF2B5EF4-FFF2-40B4-BE49-F238E27FC236}">
                <a16:creationId xmlns:a16="http://schemas.microsoft.com/office/drawing/2014/main" id="{F67C07CC-DCB3-40F8-BF99-0BA2D45D5119}"/>
              </a:ext>
            </a:extLst>
          </p:cNvPr>
          <p:cNvSpPr>
            <a:spLocks xmlns:a="http://schemas.openxmlformats.org/drawingml/2006/main" noGrp="1"/>
          </p:cNvSpPr>
          <p:nvPr/>
        </p:nvSpPr>
        <p:spPr>
          <a:xfrm xmlns:a="http://schemas.openxmlformats.org/drawingml/2006/main">
            <a:off x="6219825" y="3667125"/>
            <a:ext cx="50101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Gemini</a:t>
            </a:r>
          </a:p>
        </p:txBody>
      </p:sp>
      <p:sp>
        <p:nvSpPr>
          <p:cNvPr id="17" name="">
            <a:extLst xmlns:a="http://schemas.openxmlformats.org/drawingml/2006/main">
              <a:ext uri="{FF2B5EF4-FFF2-40B4-BE49-F238E27FC236}">
                <a16:creationId xmlns:a16="http://schemas.microsoft.com/office/drawing/2014/main" id="{F2393BD5-94FF-4EE8-BB1F-514EA4DF7155}"/>
              </a:ext>
            </a:extLst>
          </p:cNvPr>
          <p:cNvSpPr>
            <a:spLocks xmlns:a="http://schemas.openxmlformats.org/drawingml/2006/main" noGrp="1"/>
          </p:cNvSpPr>
          <p:nvPr/>
        </p:nvSpPr>
        <p:spPr>
          <a:xfrm xmlns:a="http://schemas.openxmlformats.org/drawingml/2006/main">
            <a:off x="6219825" y="4581525"/>
            <a:ext cx="50101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Validated answer + citations</a:t>
            </a:r>
          </a:p>
        </p:txBody>
      </p:sp>
      <p:sp>
        <p:nvSpPr>
          <p:cNvPr id="18" name="">
            <a:extLst xmlns:a="http://schemas.openxmlformats.org/drawingml/2006/main">
              <a:ext uri="{FF2B5EF4-FFF2-40B4-BE49-F238E27FC236}">
                <a16:creationId xmlns:a16="http://schemas.microsoft.com/office/drawing/2014/main" id="{9D5D88CE-E7B3-4C50-A98B-8F4E5EA482FC}"/>
              </a:ext>
            </a:extLst>
          </p:cNvPr>
          <p:cNvSpPr>
            <a:spLocks xmlns:a="http://schemas.openxmlformats.org/drawingml/2006/main" noGrp="1"/>
          </p:cNvSpPr>
          <p:nvPr/>
        </p:nvSpPr>
        <p:spPr>
          <a:xfrm xmlns:a="http://schemas.openxmlformats.org/drawingml/2006/main">
            <a:off x="6219825" y="5495925"/>
            <a:ext cx="5010150" cy="59055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Streamlit interface</a:t>
            </a:r>
          </a:p>
        </p:txBody>
      </p:sp>
      <p:cxnSp>
        <p:nvCxnSpPr>
          <p:cNvPr id="46" name=""/>
          <p:cNvCxnSpPr>
            <a:stCxn xmlns:a="http://schemas.openxmlformats.org/drawingml/2006/main" id="14" idx="2"/>
            <a:endCxn xmlns:a="http://schemas.openxmlformats.org/drawingml/2006/main" id="15" idx="0"/>
          </p:cNvCxnSpPr>
          <p:nvPr/>
        </p:nvCxnSpPr>
        <p:spPr>
          <a:xfrm xmlns:a="http://schemas.openxmlformats.org/drawingml/2006/main">
            <a:off x="8724900" y="2428875"/>
            <a:ext cx="0" cy="32385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47" name=""/>
          <p:cNvCxnSpPr>
            <a:stCxn xmlns:a="http://schemas.openxmlformats.org/drawingml/2006/main" id="15" idx="2"/>
            <a:endCxn xmlns:a="http://schemas.openxmlformats.org/drawingml/2006/main" id="16" idx="0"/>
          </p:cNvCxnSpPr>
          <p:nvPr/>
        </p:nvCxnSpPr>
        <p:spPr>
          <a:xfrm xmlns:a="http://schemas.openxmlformats.org/drawingml/2006/main">
            <a:off x="8724900" y="3343275"/>
            <a:ext cx="0" cy="32385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48" name=""/>
          <p:cNvCxnSpPr>
            <a:stCxn xmlns:a="http://schemas.openxmlformats.org/drawingml/2006/main" id="16" idx="2"/>
            <a:endCxn xmlns:a="http://schemas.openxmlformats.org/drawingml/2006/main" id="17" idx="0"/>
          </p:cNvCxnSpPr>
          <p:nvPr/>
        </p:nvCxnSpPr>
        <p:spPr>
          <a:xfrm xmlns:a="http://schemas.openxmlformats.org/drawingml/2006/main">
            <a:off x="8724900" y="4257675"/>
            <a:ext cx="0" cy="32385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49" name=""/>
          <p:cNvCxnSpPr>
            <a:stCxn xmlns:a="http://schemas.openxmlformats.org/drawingml/2006/main" id="17" idx="2"/>
            <a:endCxn xmlns:a="http://schemas.openxmlformats.org/drawingml/2006/main" id="18" idx="0"/>
          </p:cNvCxnSpPr>
          <p:nvPr/>
        </p:nvCxnSpPr>
        <p:spPr>
          <a:xfrm xmlns:a="http://schemas.openxmlformats.org/drawingml/2006/main">
            <a:off x="8724900" y="5172075"/>
            <a:ext cx="0" cy="32385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23" name="">
            <a:extLst xmlns:a="http://schemas.openxmlformats.org/drawingml/2006/main">
              <a:ext uri="{FF2B5EF4-FFF2-40B4-BE49-F238E27FC236}">
                <a16:creationId xmlns:a16="http://schemas.microsoft.com/office/drawing/2014/main" id="{3F1E2F93-9352-4857-BBDC-94D8575AE7DF}"/>
              </a:ext>
            </a:extLst>
          </p:cNvPr>
          <p:cNvSpPr>
            <a:spLocks xmlns:a="http://schemas.openxmlformats.org/drawingml/2006/main" noGrp="1"/>
          </p:cNvSpPr>
          <p:nvPr/>
        </p:nvSpPr>
        <p:spPr>
          <a:xfrm xmlns:a="http://schemas.openxmlformats.org/drawingml/2006/main">
            <a:off x="3095625" y="5857875"/>
            <a:ext cx="2047875" cy="333375"/>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500" b="1">
                <a:solidFill>
                  <a:srgbClr val="F2F6FA"/>
                </a:solidFill>
                <a:latin typeface="Arial"/>
                <a:ea typeface="Arial"/>
                <a:cs typeface="Arial"/>
              </a:rPr>
              <a:t>Both indexes</a:t>
            </a:r>
          </a:p>
        </p:txBody>
      </p:sp>
      <p:cxnSp>
        <p:nvCxnSpPr>
          <p:cNvPr id="51" name=""/>
          <p:cNvCxnSpPr>
            <a:stCxn xmlns:a="http://schemas.openxmlformats.org/drawingml/2006/main" id="10" idx="2"/>
            <a:endCxn xmlns:a="http://schemas.openxmlformats.org/drawingml/2006/main" id="23" idx="1"/>
          </p:cNvCxnSpPr>
          <p:nvPr/>
        </p:nvCxnSpPr>
        <p:spPr>
          <a:xfrm xmlns:a="http://schemas.openxmlformats.org/drawingml/2006/main">
            <a:off x="1643063" y="5600700"/>
            <a:ext cx="1452563" cy="423863"/>
          </a:xfrm>
          <a:prstGeom xmlns:a="http://schemas.openxmlformats.org/drawingml/2006/main" prst="bentConnector5">
            <a:avLst>
              <a:gd name="adj1" fmla="val 0"/>
              <a:gd name="adj2" fmla="val 53933"/>
              <a:gd name="adj3" fmla="val 84262"/>
            </a:avLst>
          </a:prstGeom>
          <a:ln xmlns:a="http://schemas.openxmlformats.org/drawingml/2006/main" w="19050">
            <a:solidFill>
              <a:srgbClr val="69D4E8"/>
            </a:solidFill>
            <a:tailEnd type="arrow" w="sm" len="sm"/>
          </a:ln>
        </p:spPr>
      </p:cxnSp>
      <p:cxnSp>
        <p:nvCxnSpPr>
          <p:cNvPr id="52" name=""/>
          <p:cNvCxnSpPr>
            <a:stCxn xmlns:a="http://schemas.openxmlformats.org/drawingml/2006/main" id="11" idx="2"/>
            <a:endCxn xmlns:a="http://schemas.openxmlformats.org/drawingml/2006/main" id="23" idx="0"/>
          </p:cNvCxnSpPr>
          <p:nvPr/>
        </p:nvCxnSpPr>
        <p:spPr>
          <a:xfrm xmlns:a="http://schemas.openxmlformats.org/drawingml/2006/main">
            <a:off x="4090988" y="5600700"/>
            <a:ext cx="28575" cy="257175"/>
          </a:xfrm>
          <a:prstGeom xmlns:a="http://schemas.openxmlformats.org/drawingml/2006/main" prst="bentConnector4">
            <a:avLst>
              <a:gd name="adj1" fmla="val 0"/>
              <a:gd name="adj2" fmla="val 50000"/>
            </a:avLst>
          </a:prstGeom>
          <a:ln xmlns:a="http://schemas.openxmlformats.org/drawingml/2006/main" w="19050">
            <a:solidFill>
              <a:srgbClr val="69D4E8"/>
            </a:solidFill>
            <a:tailEnd type="arrow" w="sm" len="sm"/>
          </a:ln>
        </p:spPr>
      </p:cxnSp>
      <p:cxnSp>
        <p:nvCxnSpPr>
          <p:cNvPr id="53" name=""/>
          <p:cNvCxnSpPr>
            <a:stCxn xmlns:a="http://schemas.openxmlformats.org/drawingml/2006/main" id="23" idx="3"/>
            <a:endCxn xmlns:a="http://schemas.openxmlformats.org/drawingml/2006/main" id="14" idx="1"/>
          </p:cNvCxnSpPr>
          <p:nvPr/>
        </p:nvCxnSpPr>
        <p:spPr>
          <a:xfrm xmlns:a="http://schemas.openxmlformats.org/drawingml/2006/main" flipV="1">
            <a:off x="5143500" y="2133600"/>
            <a:ext cx="1076325" cy="3890963"/>
          </a:xfrm>
          <a:prstGeom xmlns:a="http://schemas.openxmlformats.org/drawingml/2006/main" prst="bentConnector3">
            <a:avLst>
              <a:gd name="adj1" fmla="val 50000"/>
            </a:avLst>
          </a:prstGeom>
          <a:ln xmlns:a="http://schemas.openxmlformats.org/drawingml/2006/main" w="19050">
            <a:solidFill>
              <a:srgbClr val="69D4E8"/>
            </a:solidFill>
            <a:tailEnd type="arrow" w="sm" len="sm"/>
          </a:ln>
        </p:spPr>
      </p:cxnSp>
      <p:sp>
        <p:nvSpPr>
          <p:cNvPr id="27" name="">
            <a:extLst xmlns:a="http://schemas.openxmlformats.org/drawingml/2006/main">
              <a:ext uri="{FF2B5EF4-FFF2-40B4-BE49-F238E27FC236}">
                <a16:creationId xmlns:a16="http://schemas.microsoft.com/office/drawing/2014/main" id="{C3C0D420-6744-44B8-BA8D-A98EBD3E29F6}"/>
              </a:ext>
            </a:extLst>
          </p:cNvPr>
          <p:cNvSpPr>
            <a:spLocks xmlns:a="http://schemas.openxmlformats.org/drawingml/2006/main" noGrp="1"/>
          </p:cNvSpPr>
          <p:nvPr/>
        </p:nvSpPr>
        <p:spPr>
          <a:xfrm xmlns:a="http://schemas.openxmlformats.org/drawingml/2006/main">
            <a:off x="590550" y="63246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25" b="0">
                <a:solidFill>
                  <a:srgbClr val="69D4E8"/>
                </a:solidFill>
                <a:latin typeface="Arial"/>
                <a:ea typeface="Arial"/>
                <a:cs typeface="Arial"/>
              </a:defRPr>
            </a:pPr>
            <a:r>
              <a:rPr sz="1425" b="0">
                <a:solidFill>
                  <a:srgbClr val="69D4E8"/>
                </a:solidFill>
                <a:latin typeface="Arial"/>
                <a:ea typeface="Arial"/>
                <a:cs typeface="Arial"/>
              </a:rPr>
              <a:t>One Python application. No separate frontend/backend REST service.</a:t>
            </a:r>
          </a:p>
        </p:txBody>
      </p:sp>
    </p:spTree>
    <p:extLst>
      <p:ext uri="{BB962C8B-B14F-4D97-AF65-F5344CB8AC3E}">
        <p14:creationId xmlns:p14="http://schemas.microsoft.com/office/powerpoint/2010/main" val="80097413"/>
      </p:ext>
    </p:extLst>
  </p:cSld>
</p:sld>
</file>

<file path=ppt/slides/slide5.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79E623E-528D-4840-9250-211CFE905842}"/>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CBC139EA-8C32-451F-B20A-F611E1959B73}"/>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Question processing workflow</a:t>
            </a:r>
          </a:p>
        </p:txBody>
      </p:sp>
      <p:sp>
        <p:nvSpPr>
          <p:cNvPr id="3" name="">
            <a:extLst xmlns:a="http://schemas.openxmlformats.org/drawingml/2006/main">
              <a:ext uri="{FF2B5EF4-FFF2-40B4-BE49-F238E27FC236}">
                <a16:creationId xmlns:a16="http://schemas.microsoft.com/office/drawing/2014/main" id="{6156BD7A-1C0E-4220-888A-96012A0F6A09}"/>
              </a:ext>
            </a:extLst>
          </p:cNvPr>
          <p:cNvSpPr>
            <a:spLocks xmlns:a="http://schemas.openxmlformats.org/drawingml/2006/main" noGrp="1"/>
          </p:cNvSpPr>
          <p:nvPr/>
        </p:nvSpPr>
        <p:spPr>
          <a:xfrm xmlns:a="http://schemas.openxmlformats.org/drawingml/2006/main">
            <a:off x="590550" y="15811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Student question</a:t>
            </a:r>
          </a:p>
        </p:txBody>
      </p:sp>
      <p:sp>
        <p:nvSpPr>
          <p:cNvPr id="4" name="">
            <a:extLst xmlns:a="http://schemas.openxmlformats.org/drawingml/2006/main">
              <a:ext uri="{FF2B5EF4-FFF2-40B4-BE49-F238E27FC236}">
                <a16:creationId xmlns:a16="http://schemas.microsoft.com/office/drawing/2014/main" id="{F4D84A12-38BC-4192-AA64-2C7E4DB2D176}"/>
              </a:ext>
            </a:extLst>
          </p:cNvPr>
          <p:cNvSpPr>
            <a:spLocks xmlns:a="http://schemas.openxmlformats.org/drawingml/2006/main" noGrp="1"/>
          </p:cNvSpPr>
          <p:nvPr/>
        </p:nvSpPr>
        <p:spPr>
          <a:xfrm xmlns:a="http://schemas.openxmlformats.org/drawingml/2006/main">
            <a:off x="3429000" y="15811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Input validation</a:t>
            </a:r>
          </a:p>
        </p:txBody>
      </p:sp>
      <p:cxnSp>
        <p:nvCxnSpPr>
          <p:cNvPr id="37" name=""/>
          <p:cNvCxnSpPr>
            <a:stCxn xmlns:a="http://schemas.openxmlformats.org/drawingml/2006/main" id="3" idx="3"/>
            <a:endCxn xmlns:a="http://schemas.openxmlformats.org/drawingml/2006/main" id="4" idx="1"/>
          </p:cNvCxnSpPr>
          <p:nvPr/>
        </p:nvCxnSpPr>
        <p:spPr>
          <a:xfrm xmlns:a="http://schemas.openxmlformats.org/drawingml/2006/main">
            <a:off x="3086100" y="192405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6" name="">
            <a:extLst xmlns:a="http://schemas.openxmlformats.org/drawingml/2006/main">
              <a:ext uri="{FF2B5EF4-FFF2-40B4-BE49-F238E27FC236}">
                <a16:creationId xmlns:a16="http://schemas.microsoft.com/office/drawing/2014/main" id="{58106F4F-173B-417F-B5D7-003DD2259E21}"/>
              </a:ext>
            </a:extLst>
          </p:cNvPr>
          <p:cNvSpPr>
            <a:spLocks xmlns:a="http://schemas.openxmlformats.org/drawingml/2006/main" noGrp="1"/>
          </p:cNvSpPr>
          <p:nvPr/>
        </p:nvSpPr>
        <p:spPr>
          <a:xfrm xmlns:a="http://schemas.openxmlformats.org/drawingml/2006/main">
            <a:off x="6267450" y="15811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Academic scope</a:t>
            </a:r>
          </a:p>
        </p:txBody>
      </p:sp>
      <p:cxnSp>
        <p:nvCxnSpPr>
          <p:cNvPr id="39" name=""/>
          <p:cNvCxnSpPr>
            <a:stCxn xmlns:a="http://schemas.openxmlformats.org/drawingml/2006/main" id="4" idx="3"/>
            <a:endCxn xmlns:a="http://schemas.openxmlformats.org/drawingml/2006/main" id="6" idx="1"/>
          </p:cNvCxnSpPr>
          <p:nvPr/>
        </p:nvCxnSpPr>
        <p:spPr>
          <a:xfrm xmlns:a="http://schemas.openxmlformats.org/drawingml/2006/main">
            <a:off x="5924550" y="192405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8" name="">
            <a:extLst xmlns:a="http://schemas.openxmlformats.org/drawingml/2006/main">
              <a:ext uri="{FF2B5EF4-FFF2-40B4-BE49-F238E27FC236}">
                <a16:creationId xmlns:a16="http://schemas.microsoft.com/office/drawing/2014/main" id="{7A18F3FA-DB5A-4845-AD02-973A2ED0EC70}"/>
              </a:ext>
            </a:extLst>
          </p:cNvPr>
          <p:cNvSpPr>
            <a:spLocks xmlns:a="http://schemas.openxmlformats.org/drawingml/2006/main" noGrp="1"/>
          </p:cNvSpPr>
          <p:nvPr/>
        </p:nvSpPr>
        <p:spPr>
          <a:xfrm xmlns:a="http://schemas.openxmlformats.org/drawingml/2006/main">
            <a:off x="9105900" y="15811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Retrieval cache</a:t>
            </a:r>
          </a:p>
        </p:txBody>
      </p:sp>
      <p:cxnSp>
        <p:nvCxnSpPr>
          <p:cNvPr id="41" name=""/>
          <p:cNvCxnSpPr>
            <a:stCxn xmlns:a="http://schemas.openxmlformats.org/drawingml/2006/main" id="6" idx="3"/>
            <a:endCxn xmlns:a="http://schemas.openxmlformats.org/drawingml/2006/main" id="8" idx="1"/>
          </p:cNvCxnSpPr>
          <p:nvPr/>
        </p:nvCxnSpPr>
        <p:spPr>
          <a:xfrm xmlns:a="http://schemas.openxmlformats.org/drawingml/2006/main">
            <a:off x="8763000" y="192405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10" name="">
            <a:extLst xmlns:a="http://schemas.openxmlformats.org/drawingml/2006/main">
              <a:ext uri="{FF2B5EF4-FFF2-40B4-BE49-F238E27FC236}">
                <a16:creationId xmlns:a16="http://schemas.microsoft.com/office/drawing/2014/main" id="{D166D512-E8B7-47D9-A695-371960B84DDA}"/>
              </a:ext>
            </a:extLst>
          </p:cNvPr>
          <p:cNvSpPr>
            <a:spLocks xmlns:a="http://schemas.openxmlformats.org/drawingml/2006/main" noGrp="1"/>
          </p:cNvSpPr>
          <p:nvPr/>
        </p:nvSpPr>
        <p:spPr>
          <a:xfrm xmlns:a="http://schemas.openxmlformats.org/drawingml/2006/main">
            <a:off x="9105900" y="266700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BGE query embedding</a:t>
            </a:r>
          </a:p>
        </p:txBody>
      </p:sp>
      <p:sp>
        <p:nvSpPr>
          <p:cNvPr id="11" name="">
            <a:extLst xmlns:a="http://schemas.openxmlformats.org/drawingml/2006/main">
              <a:ext uri="{FF2B5EF4-FFF2-40B4-BE49-F238E27FC236}">
                <a16:creationId xmlns:a16="http://schemas.microsoft.com/office/drawing/2014/main" id="{E58163A0-C3A0-4830-B3AC-AF905210CA1B}"/>
              </a:ext>
            </a:extLst>
          </p:cNvPr>
          <p:cNvSpPr>
            <a:spLocks xmlns:a="http://schemas.openxmlformats.org/drawingml/2006/main" noGrp="1"/>
          </p:cNvSpPr>
          <p:nvPr/>
        </p:nvSpPr>
        <p:spPr>
          <a:xfrm xmlns:a="http://schemas.openxmlformats.org/drawingml/2006/main">
            <a:off x="6267450" y="266700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FAISS + BM25 search</a:t>
            </a:r>
          </a:p>
        </p:txBody>
      </p:sp>
      <p:cxnSp>
        <p:nvCxnSpPr>
          <p:cNvPr id="44" name=""/>
          <p:cNvCxnSpPr>
            <a:stCxn xmlns:a="http://schemas.openxmlformats.org/drawingml/2006/main" id="10" idx="1"/>
            <a:endCxn xmlns:a="http://schemas.openxmlformats.org/drawingml/2006/main" id="11" idx="3"/>
          </p:cNvCxnSpPr>
          <p:nvPr/>
        </p:nvCxnSpPr>
        <p:spPr>
          <a:xfrm xmlns:a="http://schemas.openxmlformats.org/drawingml/2006/main" flipH="1">
            <a:off x="8763000" y="300990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13" name="">
            <a:extLst xmlns:a="http://schemas.openxmlformats.org/drawingml/2006/main">
              <a:ext uri="{FF2B5EF4-FFF2-40B4-BE49-F238E27FC236}">
                <a16:creationId xmlns:a16="http://schemas.microsoft.com/office/drawing/2014/main" id="{FEA30737-2ACC-48FE-A397-D9EBEDAD9268}"/>
              </a:ext>
            </a:extLst>
          </p:cNvPr>
          <p:cNvSpPr>
            <a:spLocks xmlns:a="http://schemas.openxmlformats.org/drawingml/2006/main" noGrp="1"/>
          </p:cNvSpPr>
          <p:nvPr/>
        </p:nvSpPr>
        <p:spPr>
          <a:xfrm xmlns:a="http://schemas.openxmlformats.org/drawingml/2006/main">
            <a:off x="3429000" y="266700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Fusion + reranking</a:t>
            </a:r>
          </a:p>
        </p:txBody>
      </p:sp>
      <p:cxnSp>
        <p:nvCxnSpPr>
          <p:cNvPr id="46" name=""/>
          <p:cNvCxnSpPr>
            <a:stCxn xmlns:a="http://schemas.openxmlformats.org/drawingml/2006/main" id="11" idx="1"/>
            <a:endCxn xmlns:a="http://schemas.openxmlformats.org/drawingml/2006/main" id="13" idx="3"/>
          </p:cNvCxnSpPr>
          <p:nvPr/>
        </p:nvCxnSpPr>
        <p:spPr>
          <a:xfrm xmlns:a="http://schemas.openxmlformats.org/drawingml/2006/main" flipH="1">
            <a:off x="5924550" y="300990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15" name="">
            <a:extLst xmlns:a="http://schemas.openxmlformats.org/drawingml/2006/main">
              <a:ext uri="{FF2B5EF4-FFF2-40B4-BE49-F238E27FC236}">
                <a16:creationId xmlns:a16="http://schemas.microsoft.com/office/drawing/2014/main" id="{427B2C68-12B4-46EB-9869-06CB9A071496}"/>
              </a:ext>
            </a:extLst>
          </p:cNvPr>
          <p:cNvSpPr>
            <a:spLocks xmlns:a="http://schemas.openxmlformats.org/drawingml/2006/main" noGrp="1"/>
          </p:cNvSpPr>
          <p:nvPr/>
        </p:nvSpPr>
        <p:spPr>
          <a:xfrm xmlns:a="http://schemas.openxmlformats.org/drawingml/2006/main">
            <a:off x="590550" y="266700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Evidence gate</a:t>
            </a:r>
          </a:p>
        </p:txBody>
      </p:sp>
      <p:cxnSp>
        <p:nvCxnSpPr>
          <p:cNvPr id="48" name=""/>
          <p:cNvCxnSpPr>
            <a:stCxn xmlns:a="http://schemas.openxmlformats.org/drawingml/2006/main" id="13" idx="1"/>
            <a:endCxn xmlns:a="http://schemas.openxmlformats.org/drawingml/2006/main" id="15" idx="3"/>
          </p:cNvCxnSpPr>
          <p:nvPr/>
        </p:nvCxnSpPr>
        <p:spPr>
          <a:xfrm xmlns:a="http://schemas.openxmlformats.org/drawingml/2006/main" flipH="1">
            <a:off x="3086100" y="300990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17" name="">
            <a:extLst xmlns:a="http://schemas.openxmlformats.org/drawingml/2006/main">
              <a:ext uri="{FF2B5EF4-FFF2-40B4-BE49-F238E27FC236}">
                <a16:creationId xmlns:a16="http://schemas.microsoft.com/office/drawing/2014/main" id="{A91ED432-E8D3-4E26-9D60-23A696F07DF3}"/>
              </a:ext>
            </a:extLst>
          </p:cNvPr>
          <p:cNvSpPr>
            <a:spLocks xmlns:a="http://schemas.openxmlformats.org/drawingml/2006/main" noGrp="1"/>
          </p:cNvSpPr>
          <p:nvPr/>
        </p:nvSpPr>
        <p:spPr>
          <a:xfrm xmlns:a="http://schemas.openxmlformats.org/drawingml/2006/main">
            <a:off x="590550" y="37528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Context construction</a:t>
            </a:r>
          </a:p>
        </p:txBody>
      </p:sp>
      <p:sp>
        <p:nvSpPr>
          <p:cNvPr id="18" name="">
            <a:extLst xmlns:a="http://schemas.openxmlformats.org/drawingml/2006/main">
              <a:ext uri="{FF2B5EF4-FFF2-40B4-BE49-F238E27FC236}">
                <a16:creationId xmlns:a16="http://schemas.microsoft.com/office/drawing/2014/main" id="{0AF9D844-1B53-481C-B4A7-E96618F83C3C}"/>
              </a:ext>
            </a:extLst>
          </p:cNvPr>
          <p:cNvSpPr>
            <a:spLocks xmlns:a="http://schemas.openxmlformats.org/drawingml/2006/main" noGrp="1"/>
          </p:cNvSpPr>
          <p:nvPr/>
        </p:nvSpPr>
        <p:spPr>
          <a:xfrm xmlns:a="http://schemas.openxmlformats.org/drawingml/2006/main">
            <a:off x="3429000" y="37528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Gemini streaming</a:t>
            </a:r>
          </a:p>
        </p:txBody>
      </p:sp>
      <p:cxnSp>
        <p:nvCxnSpPr>
          <p:cNvPr id="51" name=""/>
          <p:cNvCxnSpPr>
            <a:stCxn xmlns:a="http://schemas.openxmlformats.org/drawingml/2006/main" id="17" idx="3"/>
            <a:endCxn xmlns:a="http://schemas.openxmlformats.org/drawingml/2006/main" id="18" idx="1"/>
          </p:cNvCxnSpPr>
          <p:nvPr/>
        </p:nvCxnSpPr>
        <p:spPr>
          <a:xfrm xmlns:a="http://schemas.openxmlformats.org/drawingml/2006/main">
            <a:off x="3086100" y="409575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20" name="">
            <a:extLst xmlns:a="http://schemas.openxmlformats.org/drawingml/2006/main">
              <a:ext uri="{FF2B5EF4-FFF2-40B4-BE49-F238E27FC236}">
                <a16:creationId xmlns:a16="http://schemas.microsoft.com/office/drawing/2014/main" id="{5B3F911D-1AE5-4CB7-B705-CA4148DC5D62}"/>
              </a:ext>
            </a:extLst>
          </p:cNvPr>
          <p:cNvSpPr>
            <a:spLocks xmlns:a="http://schemas.openxmlformats.org/drawingml/2006/main" noGrp="1"/>
          </p:cNvSpPr>
          <p:nvPr/>
        </p:nvSpPr>
        <p:spPr>
          <a:xfrm xmlns:a="http://schemas.openxmlformats.org/drawingml/2006/main">
            <a:off x="6267450" y="37528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Citation validation</a:t>
            </a:r>
          </a:p>
        </p:txBody>
      </p:sp>
      <p:cxnSp>
        <p:nvCxnSpPr>
          <p:cNvPr id="53" name=""/>
          <p:cNvCxnSpPr>
            <a:stCxn xmlns:a="http://schemas.openxmlformats.org/drawingml/2006/main" id="18" idx="3"/>
            <a:endCxn xmlns:a="http://schemas.openxmlformats.org/drawingml/2006/main" id="20" idx="1"/>
          </p:cNvCxnSpPr>
          <p:nvPr/>
        </p:nvCxnSpPr>
        <p:spPr>
          <a:xfrm xmlns:a="http://schemas.openxmlformats.org/drawingml/2006/main">
            <a:off x="5924550" y="4095750"/>
            <a:ext cx="342900"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22" name="">
            <a:extLst xmlns:a="http://schemas.openxmlformats.org/drawingml/2006/main">
              <a:ext uri="{FF2B5EF4-FFF2-40B4-BE49-F238E27FC236}">
                <a16:creationId xmlns:a16="http://schemas.microsoft.com/office/drawing/2014/main" id="{3CF27BCA-9768-4669-9E5E-D5CB3DC8F2F8}"/>
              </a:ext>
            </a:extLst>
          </p:cNvPr>
          <p:cNvSpPr>
            <a:spLocks xmlns:a="http://schemas.openxmlformats.org/drawingml/2006/main" noGrp="1"/>
          </p:cNvSpPr>
          <p:nvPr/>
        </p:nvSpPr>
        <p:spPr>
          <a:xfrm xmlns:a="http://schemas.openxmlformats.org/drawingml/2006/main">
            <a:off x="9105900" y="3752850"/>
            <a:ext cx="2495550" cy="6858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800" b="1">
                <a:solidFill>
                  <a:srgbClr val="F2F6FA"/>
                </a:solidFill>
                <a:latin typeface="Arial"/>
                <a:ea typeface="Arial"/>
                <a:cs typeface="Arial"/>
              </a:rPr>
              <a:t>Answer + source cards</a:t>
            </a:r>
          </a:p>
        </p:txBody>
      </p:sp>
      <p:cxnSp>
        <p:nvCxnSpPr>
          <p:cNvPr id="55" name=""/>
          <p:cNvCxnSpPr>
            <a:stCxn xmlns:a="http://schemas.openxmlformats.org/drawingml/2006/main" id="20" idx="3"/>
            <a:endCxn xmlns:a="http://schemas.openxmlformats.org/drawingml/2006/main" id="22" idx="1"/>
          </p:cNvCxnSpPr>
          <p:nvPr/>
        </p:nvCxnSpPr>
        <p:spPr>
          <a:xfrm xmlns:a="http://schemas.openxmlformats.org/drawingml/2006/main">
            <a:off x="8763000" y="4095750"/>
            <a:ext cx="342900" cy="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56" name=""/>
          <p:cNvCxnSpPr>
            <a:stCxn xmlns:a="http://schemas.openxmlformats.org/drawingml/2006/main" id="8" idx="2"/>
            <a:endCxn xmlns:a="http://schemas.openxmlformats.org/drawingml/2006/main" id="10" idx="0"/>
          </p:cNvCxnSpPr>
          <p:nvPr/>
        </p:nvCxnSpPr>
        <p:spPr>
          <a:xfrm xmlns:a="http://schemas.openxmlformats.org/drawingml/2006/main">
            <a:off x="10353675" y="2266950"/>
            <a:ext cx="0" cy="40005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57" name=""/>
          <p:cNvCxnSpPr>
            <a:stCxn xmlns:a="http://schemas.openxmlformats.org/drawingml/2006/main" id="15" idx="2"/>
            <a:endCxn xmlns:a="http://schemas.openxmlformats.org/drawingml/2006/main" id="17" idx="0"/>
          </p:cNvCxnSpPr>
          <p:nvPr/>
        </p:nvCxnSpPr>
        <p:spPr>
          <a:xfrm xmlns:a="http://schemas.openxmlformats.org/drawingml/2006/main">
            <a:off x="1838325" y="3352800"/>
            <a:ext cx="0" cy="40005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26" name="">
            <a:extLst xmlns:a="http://schemas.openxmlformats.org/drawingml/2006/main">
              <a:ext uri="{FF2B5EF4-FFF2-40B4-BE49-F238E27FC236}">
                <a16:creationId xmlns:a16="http://schemas.microsoft.com/office/drawing/2014/main" id="{85EDF2D5-3955-4814-9070-08B205AE9091}"/>
              </a:ext>
            </a:extLst>
          </p:cNvPr>
          <p:cNvSpPr>
            <a:spLocks xmlns:a="http://schemas.openxmlformats.org/drawingml/2006/main" noGrp="1"/>
          </p:cNvSpPr>
          <p:nvPr/>
        </p:nvSpPr>
        <p:spPr>
          <a:xfrm xmlns:a="http://schemas.openxmlformats.org/drawingml/2006/main">
            <a:off x="590550" y="51054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1">
                <a:solidFill>
                  <a:srgbClr val="8CDCAC"/>
                </a:solidFill>
                <a:latin typeface="Arial"/>
                <a:ea typeface="Arial"/>
                <a:cs typeface="Arial"/>
              </a:defRPr>
            </a:pPr>
            <a:r>
              <a:rPr sz="1500" b="1">
                <a:solidFill>
                  <a:srgbClr val="8CDCAC"/>
                </a:solidFill>
                <a:latin typeface="Arial"/>
                <a:ea typeface="Arial"/>
                <a:cs typeface="Arial"/>
              </a:rPr>
              <a:t>SHORTER PATHS</a:t>
            </a:r>
          </a:p>
        </p:txBody>
      </p:sp>
      <p:sp>
        <p:nvSpPr>
          <p:cNvPr id="27" name="">
            <a:extLst xmlns:a="http://schemas.openxmlformats.org/drawingml/2006/main">
              <a:ext uri="{FF2B5EF4-FFF2-40B4-BE49-F238E27FC236}">
                <a16:creationId xmlns:a16="http://schemas.microsoft.com/office/drawing/2014/main" id="{8F00C8DD-6924-49C9-A0C3-8B2AAE5430B5}"/>
              </a:ext>
            </a:extLst>
          </p:cNvPr>
          <p:cNvSpPr>
            <a:spLocks xmlns:a="http://schemas.openxmlformats.org/drawingml/2006/main" noGrp="1"/>
          </p:cNvSpPr>
          <p:nvPr/>
        </p:nvSpPr>
        <p:spPr>
          <a:xfrm xmlns:a="http://schemas.openxmlformats.org/drawingml/2006/main">
            <a:off x="590550" y="55816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2F6FA"/>
                </a:solidFill>
                <a:latin typeface="Arial"/>
                <a:ea typeface="Arial"/>
                <a:cs typeface="Arial"/>
              </a:defRPr>
            </a:pPr>
            <a:r>
              <a:rPr sz="1950" b="1">
                <a:solidFill>
                  <a:srgbClr val="F2F6FA"/>
                </a:solidFill>
                <a:latin typeface="Arial"/>
                <a:ea typeface="Arial"/>
                <a:cs typeface="Arial"/>
              </a:rPr>
              <a:t>Greeting</a:t>
            </a:r>
          </a:p>
        </p:txBody>
      </p:sp>
      <p:sp>
        <p:nvSpPr>
          <p:cNvPr id="28" name="">
            <a:extLst xmlns:a="http://schemas.openxmlformats.org/drawingml/2006/main">
              <a:ext uri="{FF2B5EF4-FFF2-40B4-BE49-F238E27FC236}">
                <a16:creationId xmlns:a16="http://schemas.microsoft.com/office/drawing/2014/main" id="{A0F5E0C3-D213-4956-B0BF-BE900D0676BD}"/>
              </a:ext>
            </a:extLst>
          </p:cNvPr>
          <p:cNvSpPr>
            <a:spLocks xmlns:a="http://schemas.openxmlformats.org/drawingml/2006/main" noGrp="1"/>
          </p:cNvSpPr>
          <p:nvPr/>
        </p:nvSpPr>
        <p:spPr>
          <a:xfrm xmlns:a="http://schemas.openxmlformats.org/drawingml/2006/main">
            <a:off x="590550" y="6010275"/>
            <a:ext cx="2762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7C5D3"/>
                </a:solidFill>
                <a:latin typeface="Arial"/>
                <a:ea typeface="Arial"/>
                <a:cs typeface="Arial"/>
              </a:defRPr>
            </a:pPr>
            <a:r>
              <a:rPr sz="1725" b="0">
                <a:solidFill>
                  <a:srgbClr val="B7C5D3"/>
                </a:solidFill>
                <a:latin typeface="Arial"/>
                <a:ea typeface="Arial"/>
                <a:cs typeface="Arial"/>
              </a:rPr>
              <a:t>Deterministic reply</a:t>
            </a:r>
          </a:p>
        </p:txBody>
      </p:sp>
      <p:sp>
        <p:nvSpPr>
          <p:cNvPr id="29" name="">
            <a:extLst xmlns:a="http://schemas.openxmlformats.org/drawingml/2006/main">
              <a:ext uri="{FF2B5EF4-FFF2-40B4-BE49-F238E27FC236}">
                <a16:creationId xmlns:a16="http://schemas.microsoft.com/office/drawing/2014/main" id="{5F25BAF5-49C1-45A3-92F6-96194BCF4AA8}"/>
              </a:ext>
            </a:extLst>
          </p:cNvPr>
          <p:cNvSpPr>
            <a:spLocks xmlns:a="http://schemas.openxmlformats.org/drawingml/2006/main" noGrp="1"/>
          </p:cNvSpPr>
          <p:nvPr/>
        </p:nvSpPr>
        <p:spPr>
          <a:xfrm xmlns:a="http://schemas.openxmlformats.org/drawingml/2006/main">
            <a:off x="4000500" y="55816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2F6FA"/>
                </a:solidFill>
                <a:latin typeface="Arial"/>
                <a:ea typeface="Arial"/>
                <a:cs typeface="Arial"/>
              </a:defRPr>
            </a:pPr>
            <a:r>
              <a:rPr sz="1950" b="1">
                <a:solidFill>
                  <a:srgbClr val="F2F6FA"/>
                </a:solidFill>
                <a:latin typeface="Arial"/>
                <a:ea typeface="Arial"/>
                <a:cs typeface="Arial"/>
              </a:rPr>
              <a:t>Exact syllabus overview</a:t>
            </a:r>
          </a:p>
        </p:txBody>
      </p:sp>
      <p:sp>
        <p:nvSpPr>
          <p:cNvPr id="30" name="">
            <a:extLst xmlns:a="http://schemas.openxmlformats.org/drawingml/2006/main">
              <a:ext uri="{FF2B5EF4-FFF2-40B4-BE49-F238E27FC236}">
                <a16:creationId xmlns:a16="http://schemas.microsoft.com/office/drawing/2014/main" id="{D5F03839-29B7-4328-AD16-C0F14DCA97B4}"/>
              </a:ext>
            </a:extLst>
          </p:cNvPr>
          <p:cNvSpPr>
            <a:spLocks xmlns:a="http://schemas.openxmlformats.org/drawingml/2006/main" noGrp="1"/>
          </p:cNvSpPr>
          <p:nvPr/>
        </p:nvSpPr>
        <p:spPr>
          <a:xfrm xmlns:a="http://schemas.openxmlformats.org/drawingml/2006/main">
            <a:off x="4000500" y="60102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7C5D3"/>
                </a:solidFill>
                <a:latin typeface="Arial"/>
                <a:ea typeface="Arial"/>
                <a:cs typeface="Arial"/>
              </a:defRPr>
            </a:pPr>
            <a:r>
              <a:rPr sz="1725" b="0">
                <a:solidFill>
                  <a:srgbClr val="B7C5D3"/>
                </a:solidFill>
                <a:latin typeface="Arial"/>
                <a:ea typeface="Arial"/>
                <a:cs typeface="Arial"/>
              </a:rPr>
              <a:t>Indexed table, no Gemini</a:t>
            </a:r>
          </a:p>
        </p:txBody>
      </p:sp>
      <p:sp>
        <p:nvSpPr>
          <p:cNvPr id="31" name="">
            <a:extLst xmlns:a="http://schemas.openxmlformats.org/drawingml/2006/main">
              <a:ext uri="{FF2B5EF4-FFF2-40B4-BE49-F238E27FC236}">
                <a16:creationId xmlns:a16="http://schemas.microsoft.com/office/drawing/2014/main" id="{63FD5338-2F78-475B-BE4E-E958AC79AA94}"/>
              </a:ext>
            </a:extLst>
          </p:cNvPr>
          <p:cNvSpPr>
            <a:spLocks xmlns:a="http://schemas.openxmlformats.org/drawingml/2006/main" noGrp="1"/>
          </p:cNvSpPr>
          <p:nvPr/>
        </p:nvSpPr>
        <p:spPr>
          <a:xfrm xmlns:a="http://schemas.openxmlformats.org/drawingml/2006/main">
            <a:off x="8039100" y="55816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F2F6FA"/>
                </a:solidFill>
                <a:latin typeface="Arial"/>
                <a:ea typeface="Arial"/>
                <a:cs typeface="Arial"/>
              </a:defRPr>
            </a:pPr>
            <a:r>
              <a:rPr sz="1950" b="1">
                <a:solidFill>
                  <a:srgbClr val="F2F6FA"/>
                </a:solidFill>
                <a:latin typeface="Arial"/>
                <a:ea typeface="Arial"/>
                <a:cs typeface="Arial"/>
              </a:rPr>
              <a:t>Weak evidence</a:t>
            </a:r>
          </a:p>
        </p:txBody>
      </p:sp>
      <p:sp>
        <p:nvSpPr>
          <p:cNvPr id="32" name="">
            <a:extLst xmlns:a="http://schemas.openxmlformats.org/drawingml/2006/main">
              <a:ext uri="{FF2B5EF4-FFF2-40B4-BE49-F238E27FC236}">
                <a16:creationId xmlns:a16="http://schemas.microsoft.com/office/drawing/2014/main" id="{8A034AAD-CAE0-4C52-85B4-529FD9590801}"/>
              </a:ext>
            </a:extLst>
          </p:cNvPr>
          <p:cNvSpPr>
            <a:spLocks xmlns:a="http://schemas.openxmlformats.org/drawingml/2006/main" noGrp="1"/>
          </p:cNvSpPr>
          <p:nvPr/>
        </p:nvSpPr>
        <p:spPr>
          <a:xfrm xmlns:a="http://schemas.openxmlformats.org/drawingml/2006/main">
            <a:off x="8039100" y="6010275"/>
            <a:ext cx="3286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B7C5D3"/>
                </a:solidFill>
                <a:latin typeface="Arial"/>
                <a:ea typeface="Arial"/>
                <a:cs typeface="Arial"/>
              </a:defRPr>
            </a:pPr>
            <a:r>
              <a:rPr sz="1725" b="0">
                <a:solidFill>
                  <a:srgbClr val="B7C5D3"/>
                </a:solidFill>
                <a:latin typeface="Arial"/>
                <a:ea typeface="Arial"/>
                <a:cs typeface="Arial"/>
              </a:rPr>
              <a:t>Refusal, no Gemini</a:t>
            </a:r>
          </a:p>
        </p:txBody>
      </p:sp>
    </p:spTree>
    <p:extLst>
      <p:ext uri="{BB962C8B-B14F-4D97-AF65-F5344CB8AC3E}">
        <p14:creationId xmlns:p14="http://schemas.microsoft.com/office/powerpoint/2010/main" val="1333244977"/>
      </p:ext>
    </p:extLst>
  </p:cSld>
</p:sld>
</file>

<file path=ppt/slides/slide6.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0DF4227-22B3-461E-80A1-4FE070EBFD9D}"/>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85CF2424-9567-438F-9CD0-2F0DFC2A085F}"/>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Token-aware optimization</a:t>
            </a:r>
          </a:p>
        </p:txBody>
      </p:sp>
      <p:sp>
        <p:nvSpPr>
          <p:cNvPr id="3" name="">
            <a:extLst xmlns:a="http://schemas.openxmlformats.org/drawingml/2006/main">
              <a:ext uri="{FF2B5EF4-FFF2-40B4-BE49-F238E27FC236}">
                <a16:creationId xmlns:a16="http://schemas.microsoft.com/office/drawing/2014/main" id="{D35AEE88-A780-47E4-BA8F-F11091B1ED9E}"/>
              </a:ext>
            </a:extLst>
          </p:cNvPr>
          <p:cNvSpPr>
            <a:spLocks xmlns:a="http://schemas.openxmlformats.org/drawingml/2006/main" noGrp="1"/>
          </p:cNvSpPr>
          <p:nvPr/>
        </p:nvSpPr>
        <p:spPr>
          <a:xfrm xmlns:a="http://schemas.openxmlformats.org/drawingml/2006/main">
            <a:off x="590550" y="1409700"/>
            <a:ext cx="4476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B7C5D3"/>
                </a:solidFill>
                <a:latin typeface="Arial"/>
                <a:ea typeface="Arial"/>
                <a:cs typeface="Arial"/>
              </a:defRPr>
            </a:pPr>
            <a:r>
              <a:rPr sz="2175" b="1">
                <a:solidFill>
                  <a:srgbClr val="B7C5D3"/>
                </a:solidFill>
                <a:latin typeface="Arial"/>
                <a:ea typeface="Arial"/>
                <a:cs typeface="Arial"/>
              </a:rPr>
              <a:t>Original index</a:t>
            </a:r>
          </a:p>
        </p:txBody>
      </p:sp>
      <p:sp>
        <p:nvSpPr>
          <p:cNvPr id="4" name="">
            <a:extLst xmlns:a="http://schemas.openxmlformats.org/drawingml/2006/main">
              <a:ext uri="{FF2B5EF4-FFF2-40B4-BE49-F238E27FC236}">
                <a16:creationId xmlns:a16="http://schemas.microsoft.com/office/drawing/2014/main" id="{FB4BB8E4-F5A5-4715-90FE-A0A98C8327BF}"/>
              </a:ext>
            </a:extLst>
          </p:cNvPr>
          <p:cNvSpPr>
            <a:spLocks xmlns:a="http://schemas.openxmlformats.org/drawingml/2006/main" noGrp="1"/>
          </p:cNvSpPr>
          <p:nvPr/>
        </p:nvSpPr>
        <p:spPr>
          <a:xfrm xmlns:a="http://schemas.openxmlformats.org/drawingml/2006/main">
            <a:off x="6334125" y="140970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8CDCAC"/>
                </a:solidFill>
                <a:latin typeface="Arial"/>
                <a:ea typeface="Arial"/>
                <a:cs typeface="Arial"/>
              </a:defRPr>
            </a:pPr>
            <a:r>
              <a:rPr sz="2175" b="1">
                <a:solidFill>
                  <a:srgbClr val="8CDCAC"/>
                </a:solidFill>
                <a:latin typeface="Arial"/>
                <a:ea typeface="Arial"/>
                <a:cs typeface="Arial"/>
              </a:rPr>
              <a:t>Active candidate</a:t>
            </a:r>
          </a:p>
        </p:txBody>
      </p:sp>
      <p:sp>
        <p:nvSpPr>
          <p:cNvPr id="5" name="">
            <a:extLst xmlns:a="http://schemas.openxmlformats.org/drawingml/2006/main">
              <a:ext uri="{FF2B5EF4-FFF2-40B4-BE49-F238E27FC236}">
                <a16:creationId xmlns:a16="http://schemas.microsoft.com/office/drawing/2014/main" id="{9A1F00FD-0342-4BC4-AF0F-3F47E7CFB609}"/>
              </a:ext>
            </a:extLst>
          </p:cNvPr>
          <p:cNvSpPr>
            <a:spLocks xmlns:a="http://schemas.openxmlformats.org/drawingml/2006/main" noGrp="1"/>
          </p:cNvSpPr>
          <p:nvPr/>
        </p:nvSpPr>
        <p:spPr>
          <a:xfrm xmlns:a="http://schemas.openxmlformats.org/drawingml/2006/main">
            <a:off x="590550" y="19621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75" b="1">
                <a:solidFill>
                  <a:srgbClr val="F2F6FA"/>
                </a:solidFill>
                <a:latin typeface="Arial"/>
                <a:ea typeface="Arial"/>
                <a:cs typeface="Arial"/>
              </a:defRPr>
            </a:pPr>
            <a:r>
              <a:rPr sz="5775" b="1">
                <a:solidFill>
                  <a:srgbClr val="F2F6FA"/>
                </a:solidFill>
                <a:latin typeface="Arial"/>
                <a:ea typeface="Arial"/>
                <a:cs typeface="Arial"/>
              </a:rPr>
              <a:t>3,227</a:t>
            </a:r>
          </a:p>
        </p:txBody>
      </p:sp>
      <p:sp>
        <p:nvSpPr>
          <p:cNvPr id="6" name="">
            <a:extLst xmlns:a="http://schemas.openxmlformats.org/drawingml/2006/main">
              <a:ext uri="{FF2B5EF4-FFF2-40B4-BE49-F238E27FC236}">
                <a16:creationId xmlns:a16="http://schemas.microsoft.com/office/drawing/2014/main" id="{4A6EC16C-42CA-4082-B520-4D1CC3963672}"/>
              </a:ext>
            </a:extLst>
          </p:cNvPr>
          <p:cNvSpPr>
            <a:spLocks xmlns:a="http://schemas.openxmlformats.org/drawingml/2006/main" noGrp="1"/>
          </p:cNvSpPr>
          <p:nvPr/>
        </p:nvSpPr>
        <p:spPr>
          <a:xfrm xmlns:a="http://schemas.openxmlformats.org/drawingml/2006/main">
            <a:off x="609600" y="30003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chunks</a:t>
            </a:r>
          </a:p>
        </p:txBody>
      </p:sp>
      <p:sp>
        <p:nvSpPr>
          <p:cNvPr id="7" name="">
            <a:extLst xmlns:a="http://schemas.openxmlformats.org/drawingml/2006/main">
              <a:ext uri="{FF2B5EF4-FFF2-40B4-BE49-F238E27FC236}">
                <a16:creationId xmlns:a16="http://schemas.microsoft.com/office/drawing/2014/main" id="{9F91AF48-74CF-4C78-AE07-E64FA737842A}"/>
              </a:ext>
            </a:extLst>
          </p:cNvPr>
          <p:cNvSpPr>
            <a:spLocks xmlns:a="http://schemas.openxmlformats.org/drawingml/2006/main" noGrp="1"/>
          </p:cNvSpPr>
          <p:nvPr/>
        </p:nvSpPr>
        <p:spPr>
          <a:xfrm xmlns:a="http://schemas.openxmlformats.org/drawingml/2006/main">
            <a:off x="6334125" y="196215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75" b="1">
                <a:solidFill>
                  <a:srgbClr val="F2F6FA"/>
                </a:solidFill>
                <a:latin typeface="Arial"/>
                <a:ea typeface="Arial"/>
                <a:cs typeface="Arial"/>
              </a:defRPr>
            </a:pPr>
            <a:r>
              <a:rPr sz="5775" b="1">
                <a:solidFill>
                  <a:srgbClr val="F2F6FA"/>
                </a:solidFill>
                <a:latin typeface="Arial"/>
                <a:ea typeface="Arial"/>
                <a:cs typeface="Arial"/>
              </a:rPr>
              <a:t>5,835</a:t>
            </a:r>
          </a:p>
        </p:txBody>
      </p:sp>
      <p:sp>
        <p:nvSpPr>
          <p:cNvPr id="8" name="">
            <a:extLst xmlns:a="http://schemas.openxmlformats.org/drawingml/2006/main">
              <a:ext uri="{FF2B5EF4-FFF2-40B4-BE49-F238E27FC236}">
                <a16:creationId xmlns:a16="http://schemas.microsoft.com/office/drawing/2014/main" id="{D9012F41-1A60-4997-9933-50C56D7E5F8F}"/>
              </a:ext>
            </a:extLst>
          </p:cNvPr>
          <p:cNvSpPr>
            <a:spLocks xmlns:a="http://schemas.openxmlformats.org/drawingml/2006/main" noGrp="1"/>
          </p:cNvSpPr>
          <p:nvPr/>
        </p:nvSpPr>
        <p:spPr>
          <a:xfrm xmlns:a="http://schemas.openxmlformats.org/drawingml/2006/main">
            <a:off x="6353175" y="30003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chunks</a:t>
            </a:r>
          </a:p>
        </p:txBody>
      </p:sp>
      <p:sp>
        <p:nvSpPr>
          <p:cNvPr id="9" name="">
            <a:extLst xmlns:a="http://schemas.openxmlformats.org/drawingml/2006/main">
              <a:ext uri="{FF2B5EF4-FFF2-40B4-BE49-F238E27FC236}">
                <a16:creationId xmlns:a16="http://schemas.microsoft.com/office/drawing/2014/main" id="{CB5BD91D-1775-401C-8E9B-DBCD88DD224B}"/>
              </a:ext>
            </a:extLst>
          </p:cNvPr>
          <p:cNvSpPr>
            <a:spLocks xmlns:a="http://schemas.openxmlformats.org/drawingml/2006/main" noGrp="1"/>
          </p:cNvSpPr>
          <p:nvPr/>
        </p:nvSpPr>
        <p:spPr>
          <a:xfrm xmlns:a="http://schemas.openxmlformats.org/drawingml/2006/main">
            <a:off x="590550" y="35623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FFC8A6"/>
                </a:solidFill>
                <a:latin typeface="Arial"/>
                <a:ea typeface="Arial"/>
                <a:cs typeface="Arial"/>
              </a:defRPr>
            </a:pPr>
            <a:r>
              <a:rPr sz="2475" b="1">
                <a:solidFill>
                  <a:srgbClr val="FFC8A6"/>
                </a:solidFill>
                <a:latin typeface="Arial"/>
                <a:ea typeface="Arial"/>
                <a:cs typeface="Arial"/>
              </a:rPr>
              <a:t>952 oversized inputs</a:t>
            </a:r>
          </a:p>
        </p:txBody>
      </p:sp>
      <p:sp>
        <p:nvSpPr>
          <p:cNvPr id="10" name="">
            <a:extLst xmlns:a="http://schemas.openxmlformats.org/drawingml/2006/main">
              <a:ext uri="{FF2B5EF4-FFF2-40B4-BE49-F238E27FC236}">
                <a16:creationId xmlns:a16="http://schemas.microsoft.com/office/drawing/2014/main" id="{49231A03-2F04-4F53-AA55-9D09A6D389D2}"/>
              </a:ext>
            </a:extLst>
          </p:cNvPr>
          <p:cNvSpPr>
            <a:spLocks xmlns:a="http://schemas.openxmlformats.org/drawingml/2006/main" noGrp="1"/>
          </p:cNvSpPr>
          <p:nvPr/>
        </p:nvSpPr>
        <p:spPr>
          <a:xfrm xmlns:a="http://schemas.openxmlformats.org/drawingml/2006/main">
            <a:off x="6334125" y="35623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8CDCAC"/>
                </a:solidFill>
                <a:latin typeface="Arial"/>
                <a:ea typeface="Arial"/>
                <a:cs typeface="Arial"/>
              </a:defRPr>
            </a:pPr>
            <a:r>
              <a:rPr sz="2475" b="1">
                <a:solidFill>
                  <a:srgbClr val="8CDCAC"/>
                </a:solidFill>
                <a:latin typeface="Arial"/>
                <a:ea typeface="Arial"/>
                <a:cs typeface="Arial"/>
              </a:rPr>
              <a:t>0 oversized inputs</a:t>
            </a:r>
          </a:p>
        </p:txBody>
      </p:sp>
      <p:sp>
        <p:nvSpPr>
          <p:cNvPr id="11" name="">
            <a:extLst xmlns:a="http://schemas.openxmlformats.org/drawingml/2006/main">
              <a:ext uri="{FF2B5EF4-FFF2-40B4-BE49-F238E27FC236}">
                <a16:creationId xmlns:a16="http://schemas.microsoft.com/office/drawing/2014/main" id="{12445C61-B913-4155-83B6-E82A62291C49}"/>
              </a:ext>
            </a:extLst>
          </p:cNvPr>
          <p:cNvSpPr>
            <a:spLocks xmlns:a="http://schemas.openxmlformats.org/drawingml/2006/main" noGrp="1"/>
          </p:cNvSpPr>
          <p:nvPr/>
        </p:nvSpPr>
        <p:spPr>
          <a:xfrm xmlns:a="http://schemas.openxmlformats.org/drawingml/2006/main">
            <a:off x="590550" y="411480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Exceeded the 512-token window</a:t>
            </a:r>
          </a:p>
        </p:txBody>
      </p:sp>
      <p:sp>
        <p:nvSpPr>
          <p:cNvPr id="12" name="">
            <a:extLst xmlns:a="http://schemas.openxmlformats.org/drawingml/2006/main">
              <a:ext uri="{FF2B5EF4-FFF2-40B4-BE49-F238E27FC236}">
                <a16:creationId xmlns:a16="http://schemas.microsoft.com/office/drawing/2014/main" id="{D535CA43-60A6-4F72-9332-4A84688B900D}"/>
              </a:ext>
            </a:extLst>
          </p:cNvPr>
          <p:cNvSpPr>
            <a:spLocks xmlns:a="http://schemas.openxmlformats.org/drawingml/2006/main" noGrp="1"/>
          </p:cNvSpPr>
          <p:nvPr/>
        </p:nvSpPr>
        <p:spPr>
          <a:xfrm xmlns:a="http://schemas.openxmlformats.org/drawingml/2006/main">
            <a:off x="6334125" y="4114800"/>
            <a:ext cx="523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448-token complete-input limit</a:t>
            </a:r>
          </a:p>
        </p:txBody>
      </p:sp>
      <p:sp>
        <p:nvSpPr>
          <p:cNvPr id="13" name="">
            <a:extLst xmlns:a="http://schemas.openxmlformats.org/drawingml/2006/main">
              <a:ext uri="{FF2B5EF4-FFF2-40B4-BE49-F238E27FC236}">
                <a16:creationId xmlns:a16="http://schemas.microsoft.com/office/drawing/2014/main" id="{FDC0AD96-C24E-46B6-86A0-17E244D71B4C}"/>
              </a:ext>
            </a:extLst>
          </p:cNvPr>
          <p:cNvSpPr>
            <a:spLocks xmlns:a="http://schemas.openxmlformats.org/drawingml/2006/main" noGrp="1"/>
          </p:cNvSpPr>
          <p:nvPr/>
        </p:nvSpPr>
        <p:spPr>
          <a:xfrm xmlns:a="http://schemas.openxmlformats.org/drawingml/2006/main">
            <a:off x="590550" y="4695825"/>
            <a:ext cx="10953750" cy="0"/>
          </a:xfrm>
          <a:prstGeom xmlns:a="http://schemas.openxmlformats.org/drawingml/2006/main" prst="line">
            <a:avLst/>
          </a:prstGeom>
          <a:ln xmlns:a="http://schemas.openxmlformats.org/drawingml/2006/main" w="11430">
            <a:solidFill>
              <a:srgbClr val="32495B"/>
            </a:solidFill>
          </a:ln>
        </p:spPr>
      </p:sp>
      <p:sp>
        <p:nvSpPr>
          <p:cNvPr id="14" name="">
            <a:extLst xmlns:a="http://schemas.openxmlformats.org/drawingml/2006/main">
              <a:ext uri="{FF2B5EF4-FFF2-40B4-BE49-F238E27FC236}">
                <a16:creationId xmlns:a16="http://schemas.microsoft.com/office/drawing/2014/main" id="{3DA97CFD-6BED-40C5-BCCF-89C52B52D53A}"/>
              </a:ext>
            </a:extLst>
          </p:cNvPr>
          <p:cNvSpPr>
            <a:spLocks xmlns:a="http://schemas.openxmlformats.org/drawingml/2006/main" noGrp="1"/>
          </p:cNvSpPr>
          <p:nvPr/>
        </p:nvSpPr>
        <p:spPr>
          <a:xfrm xmlns:a="http://schemas.openxmlformats.org/drawingml/2006/main">
            <a:off x="590550" y="49244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69D4E8"/>
                </a:solidFill>
                <a:latin typeface="Arial"/>
                <a:ea typeface="Arial"/>
                <a:cs typeface="Arial"/>
              </a:defRPr>
            </a:pPr>
            <a:r>
              <a:rPr sz="2400" b="1">
                <a:solidFill>
                  <a:srgbClr val="69D4E8"/>
                </a:solidFill>
                <a:latin typeface="Arial"/>
                <a:ea typeface="Arial"/>
                <a:cs typeface="Arial"/>
              </a:rPr>
              <a:t>17/17 checks before and after</a:t>
            </a:r>
          </a:p>
        </p:txBody>
      </p:sp>
      <p:sp>
        <p:nvSpPr>
          <p:cNvPr id="15" name="">
            <a:extLst xmlns:a="http://schemas.openxmlformats.org/drawingml/2006/main">
              <a:ext uri="{FF2B5EF4-FFF2-40B4-BE49-F238E27FC236}">
                <a16:creationId xmlns:a16="http://schemas.microsoft.com/office/drawing/2014/main" id="{2729C20A-4453-4AD5-9D57-D12A884604B4}"/>
              </a:ext>
            </a:extLst>
          </p:cNvPr>
          <p:cNvSpPr>
            <a:spLocks xmlns:a="http://schemas.openxmlformats.org/drawingml/2006/main" noGrp="1"/>
          </p:cNvSpPr>
          <p:nvPr/>
        </p:nvSpPr>
        <p:spPr>
          <a:xfrm xmlns:a="http://schemas.openxmlformats.org/drawingml/2006/main">
            <a:off x="590550" y="54292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B7C5D3"/>
                </a:solidFill>
                <a:latin typeface="Arial"/>
                <a:ea typeface="Arial"/>
                <a:cs typeface="Arial"/>
              </a:defRPr>
            </a:pPr>
            <a:r>
              <a:rPr sz="1800" b="0">
                <a:solidFill>
                  <a:srgbClr val="B7C5D3"/>
                </a:solidFill>
                <a:latin typeface="Arial"/>
                <a:ea typeface="Arial"/>
                <a:cs typeface="Arial"/>
              </a:rPr>
              <a:t>Metadata and special tokens count toward the limit. Course rows and headings stay intact.</a:t>
            </a:r>
          </a:p>
        </p:txBody>
      </p:sp>
      <p:sp>
        <p:nvSpPr>
          <p:cNvPr id="16" name="">
            <a:extLst xmlns:a="http://schemas.openxmlformats.org/drawingml/2006/main">
              <a:ext uri="{FF2B5EF4-FFF2-40B4-BE49-F238E27FC236}">
                <a16:creationId xmlns:a16="http://schemas.microsoft.com/office/drawing/2014/main" id="{8FE2E7C1-0E24-43DF-840B-1156FD84876C}"/>
              </a:ext>
            </a:extLst>
          </p:cNvPr>
          <p:cNvSpPr>
            <a:spLocks xmlns:a="http://schemas.openxmlformats.org/drawingml/2006/main" noGrp="1"/>
          </p:cNvSpPr>
          <p:nvPr/>
        </p:nvSpPr>
        <p:spPr>
          <a:xfrm xmlns:a="http://schemas.openxmlformats.org/drawingml/2006/main">
            <a:off x="590550" y="6067425"/>
            <a:ext cx="2819400" cy="381000"/>
          </a:xfrm>
          <a:prstGeom xmlns:a="http://schemas.openxmlformats.org/drawingml/2006/main" prst="rect">
            <a:avLst/>
          </a:prstGeom>
          <a:solidFill xmlns:a="http://schemas.openxmlformats.org/drawingml/2006/main">
            <a:srgbClr val="152A3C"/>
          </a:solidFill>
          <a:ln xmlns:a="http://schemas.openxmlformats.org/drawingml/2006/main" w="12383">
            <a:solidFill>
              <a:srgbClr val="69D4E8"/>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650" b="1">
                <a:solidFill>
                  <a:srgbClr val="F2F6FA"/>
                </a:solidFill>
                <a:latin typeface="Arial"/>
                <a:ea typeface="Arial"/>
                <a:cs typeface="Arial"/>
              </a:rPr>
              <a:t>Evaluated candidate</a:t>
            </a:r>
          </a:p>
        </p:txBody>
      </p:sp>
      <p:sp>
        <p:nvSpPr>
          <p:cNvPr id="17" name="">
            <a:extLst xmlns:a="http://schemas.openxmlformats.org/drawingml/2006/main">
              <a:ext uri="{FF2B5EF4-FFF2-40B4-BE49-F238E27FC236}">
                <a16:creationId xmlns:a16="http://schemas.microsoft.com/office/drawing/2014/main" id="{0EA1B31B-E7E8-4409-A1CB-461281D2EA73}"/>
              </a:ext>
            </a:extLst>
          </p:cNvPr>
          <p:cNvSpPr>
            <a:spLocks xmlns:a="http://schemas.openxmlformats.org/drawingml/2006/main" noGrp="1"/>
          </p:cNvSpPr>
          <p:nvPr/>
        </p:nvSpPr>
        <p:spPr>
          <a:xfrm xmlns:a="http://schemas.openxmlformats.org/drawingml/2006/main">
            <a:off x="4667250" y="6067425"/>
            <a:ext cx="2486025" cy="381000"/>
          </a:xfrm>
          <a:prstGeom xmlns:a="http://schemas.openxmlformats.org/drawingml/2006/main" prst="rect">
            <a:avLst/>
          </a:prstGeom>
          <a:solidFill xmlns:a="http://schemas.openxmlformats.org/drawingml/2006/main">
            <a:srgbClr val="152A3C"/>
          </a:solidFill>
          <a:ln xmlns:a="http://schemas.openxmlformats.org/drawingml/2006/main" w="12383">
            <a:solidFill>
              <a:srgbClr val="8CDCAC"/>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650" b="1">
                <a:solidFill>
                  <a:srgbClr val="F2F6FA"/>
                </a:solidFill>
                <a:latin typeface="Arial"/>
                <a:ea typeface="Arial"/>
                <a:cs typeface="Arial"/>
              </a:rPr>
              <a:t>Active selection</a:t>
            </a:r>
          </a:p>
        </p:txBody>
      </p:sp>
      <p:sp>
        <p:nvSpPr>
          <p:cNvPr id="18" name="">
            <a:extLst xmlns:a="http://schemas.openxmlformats.org/drawingml/2006/main">
              <a:ext uri="{FF2B5EF4-FFF2-40B4-BE49-F238E27FC236}">
                <a16:creationId xmlns:a16="http://schemas.microsoft.com/office/drawing/2014/main" id="{0FF4A4C4-A408-4426-9EB3-7900EB85B36C}"/>
              </a:ext>
            </a:extLst>
          </p:cNvPr>
          <p:cNvSpPr>
            <a:spLocks xmlns:a="http://schemas.openxmlformats.org/drawingml/2006/main" noGrp="1"/>
          </p:cNvSpPr>
          <p:nvPr/>
        </p:nvSpPr>
        <p:spPr>
          <a:xfrm xmlns:a="http://schemas.openxmlformats.org/drawingml/2006/main">
            <a:off x="8477250" y="6067425"/>
            <a:ext cx="2619375" cy="381000"/>
          </a:xfrm>
          <a:prstGeom xmlns:a="http://schemas.openxmlformats.org/drawingml/2006/main" prst="rect">
            <a:avLst/>
          </a:prstGeom>
          <a:solidFill xmlns:a="http://schemas.openxmlformats.org/drawingml/2006/main">
            <a:srgbClr val="152A3C"/>
          </a:solidFill>
          <a:ln xmlns:a="http://schemas.openxmlformats.org/drawingml/2006/main" w="12383">
            <a:solidFill>
              <a:srgbClr val="A0BCFF"/>
            </a:solidFill>
          </a:ln>
        </p:spPr>
        <p:txBody>
          <a:bodyPr xmlns:a="http://schemas.openxmlformats.org/drawingml/2006/main" lIns="85725" tIns="47625" rIns="85725" bIns="47625" anchor="ctr">
            <a:noAutofit/>
          </a:bodyPr>
          <a:lstStyle xmlns:a="http://schemas.openxmlformats.org/drawingml/2006/main"/>
          <a:p xmlns:a="http://schemas.openxmlformats.org/drawingml/2006/main">
            <a:pPr algn="ctr">
              <a:defRPr sz="1800" b="1">
                <a:solidFill>
                  <a:srgbClr val="F2F6FA"/>
                </a:solidFill>
                <a:latin typeface="Arial"/>
                <a:ea typeface="Arial"/>
                <a:cs typeface="Arial"/>
              </a:defRPr>
            </a:pPr>
            <a:r>
              <a:rPr sz="1650" b="1">
                <a:solidFill>
                  <a:srgbClr val="F2F6FA"/>
                </a:solidFill>
                <a:latin typeface="Arial"/>
                <a:ea typeface="Arial"/>
                <a:cs typeface="Arial"/>
              </a:rPr>
              <a:t>Original index</a:t>
            </a:r>
          </a:p>
        </p:txBody>
      </p:sp>
      <p:cxnSp>
        <p:nvCxnSpPr>
          <p:cNvPr id="41" name=""/>
          <p:cNvCxnSpPr>
            <a:stCxn xmlns:a="http://schemas.openxmlformats.org/drawingml/2006/main" id="16" idx="3"/>
            <a:endCxn xmlns:a="http://schemas.openxmlformats.org/drawingml/2006/main" id="17" idx="1"/>
          </p:cNvCxnSpPr>
          <p:nvPr/>
        </p:nvCxnSpPr>
        <p:spPr>
          <a:xfrm xmlns:a="http://schemas.openxmlformats.org/drawingml/2006/main">
            <a:off x="3409950" y="6257925"/>
            <a:ext cx="1257300" cy="0"/>
          </a:xfrm>
          <a:prstGeom xmlns:a="http://schemas.openxmlformats.org/drawingml/2006/main" prst="straightConnector1">
            <a:avLst/>
          </a:prstGeom>
          <a:ln xmlns:a="http://schemas.openxmlformats.org/drawingml/2006/main" w="19050">
            <a:solidFill>
              <a:srgbClr val="69D4E8"/>
            </a:solidFill>
            <a:tailEnd type="arrow" w="sm" len="sm"/>
          </a:ln>
        </p:spPr>
      </p:cxnSp>
      <p:cxnSp>
        <p:nvCxnSpPr>
          <p:cNvPr id="42" name=""/>
          <p:cNvCxnSpPr>
            <a:stCxn xmlns:a="http://schemas.openxmlformats.org/drawingml/2006/main" id="17" idx="3"/>
            <a:endCxn xmlns:a="http://schemas.openxmlformats.org/drawingml/2006/main" id="18" idx="1"/>
          </p:cNvCxnSpPr>
          <p:nvPr/>
        </p:nvCxnSpPr>
        <p:spPr>
          <a:xfrm xmlns:a="http://schemas.openxmlformats.org/drawingml/2006/main">
            <a:off x="7153275" y="6257925"/>
            <a:ext cx="1323975" cy="0"/>
          </a:xfrm>
          <a:prstGeom xmlns:a="http://schemas.openxmlformats.org/drawingml/2006/main" prst="straightConnector1">
            <a:avLst/>
          </a:prstGeom>
          <a:ln xmlns:a="http://schemas.openxmlformats.org/drawingml/2006/main" w="19050">
            <a:solidFill>
              <a:srgbClr val="69D4E8"/>
            </a:solidFill>
            <a:tailEnd type="arrow" w="sm" len="sm"/>
          </a:ln>
        </p:spPr>
      </p:cxnSp>
      <p:sp>
        <p:nvSpPr>
          <p:cNvPr id="21" name="">
            <a:extLst xmlns:a="http://schemas.openxmlformats.org/drawingml/2006/main">
              <a:ext uri="{FF2B5EF4-FFF2-40B4-BE49-F238E27FC236}">
                <a16:creationId xmlns:a16="http://schemas.microsoft.com/office/drawing/2014/main" id="{C6B75ACF-21AA-4BB3-AB0A-5D8CC0301423}"/>
              </a:ext>
            </a:extLst>
          </p:cNvPr>
          <p:cNvSpPr>
            <a:spLocks xmlns:a="http://schemas.openxmlformats.org/drawingml/2006/main" noGrp="1"/>
          </p:cNvSpPr>
          <p:nvPr/>
        </p:nvSpPr>
        <p:spPr>
          <a:xfrm xmlns:a="http://schemas.openxmlformats.org/drawingml/2006/main">
            <a:off x="3571875" y="57912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activate</a:t>
            </a:r>
          </a:p>
        </p:txBody>
      </p:sp>
      <p:sp>
        <p:nvSpPr>
          <p:cNvPr id="22" name="">
            <a:extLst xmlns:a="http://schemas.openxmlformats.org/drawingml/2006/main">
              <a:ext uri="{FF2B5EF4-FFF2-40B4-BE49-F238E27FC236}">
                <a16:creationId xmlns:a16="http://schemas.microsoft.com/office/drawing/2014/main" id="{94126156-3D86-41A2-91D1-6DA4829B3D5F}"/>
              </a:ext>
            </a:extLst>
          </p:cNvPr>
          <p:cNvSpPr>
            <a:spLocks xmlns:a="http://schemas.openxmlformats.org/drawingml/2006/main" noGrp="1"/>
          </p:cNvSpPr>
          <p:nvPr/>
        </p:nvSpPr>
        <p:spPr>
          <a:xfrm xmlns:a="http://schemas.openxmlformats.org/drawingml/2006/main">
            <a:off x="7496175" y="57912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rollback</a:t>
            </a:r>
          </a:p>
        </p:txBody>
      </p:sp>
    </p:spTree>
    <p:extLst>
      <p:ext uri="{BB962C8B-B14F-4D97-AF65-F5344CB8AC3E}">
        <p14:creationId xmlns:p14="http://schemas.microsoft.com/office/powerpoint/2010/main" val="343863999"/>
      </p:ext>
    </p:extLst>
  </p:cSld>
</p:sld>
</file>

<file path=ppt/slides/slide7.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97A1747-8DF1-4888-9BCF-1D982AEC0179}"/>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B8410979-5C20-49B1-A5E4-B3DC1902ED9E}"/>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Technology stack</a:t>
            </a:r>
          </a:p>
        </p:txBody>
      </p:sp>
      <p:sp>
        <p:nvSpPr>
          <p:cNvPr id="3" name="">
            <a:extLst xmlns:a="http://schemas.openxmlformats.org/drawingml/2006/main">
              <a:ext uri="{FF2B5EF4-FFF2-40B4-BE49-F238E27FC236}">
                <a16:creationId xmlns:a16="http://schemas.microsoft.com/office/drawing/2014/main" id="{CEA44F27-75B7-4496-803F-75BE4FE9A633}"/>
              </a:ext>
            </a:extLst>
          </p:cNvPr>
          <p:cNvSpPr>
            <a:spLocks xmlns:a="http://schemas.openxmlformats.org/drawingml/2006/main" noGrp="1"/>
          </p:cNvSpPr>
          <p:nvPr/>
        </p:nvSpPr>
        <p:spPr>
          <a:xfrm xmlns:a="http://schemas.openxmlformats.org/drawingml/2006/main">
            <a:off x="590550" y="14763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69D4E8"/>
                </a:solidFill>
                <a:latin typeface="Arial"/>
                <a:ea typeface="Arial"/>
                <a:cs typeface="Arial"/>
              </a:defRPr>
            </a:pPr>
            <a:r>
              <a:rPr sz="1875" b="1">
                <a:solidFill>
                  <a:srgbClr val="69D4E8"/>
                </a:solidFill>
                <a:latin typeface="Arial"/>
                <a:ea typeface="Arial"/>
                <a:cs typeface="Arial"/>
              </a:rPr>
              <a:t>Application</a:t>
            </a:r>
          </a:p>
        </p:txBody>
      </p:sp>
      <p:sp>
        <p:nvSpPr>
          <p:cNvPr id="4" name="">
            <a:extLst xmlns:a="http://schemas.openxmlformats.org/drawingml/2006/main">
              <a:ext uri="{FF2B5EF4-FFF2-40B4-BE49-F238E27FC236}">
                <a16:creationId xmlns:a16="http://schemas.microsoft.com/office/drawing/2014/main" id="{428A093F-3E71-40D5-941A-0287AC93FB67}"/>
              </a:ext>
            </a:extLst>
          </p:cNvPr>
          <p:cNvSpPr>
            <a:spLocks xmlns:a="http://schemas.openxmlformats.org/drawingml/2006/main" noGrp="1"/>
          </p:cNvSpPr>
          <p:nvPr/>
        </p:nvSpPr>
        <p:spPr>
          <a:xfrm xmlns:a="http://schemas.openxmlformats.org/drawingml/2006/main">
            <a:off x="3762375" y="1476375"/>
            <a:ext cx="7829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Python 3.11 and Streamlit</a:t>
            </a:r>
          </a:p>
        </p:txBody>
      </p:sp>
      <p:sp>
        <p:nvSpPr>
          <p:cNvPr id="5" name="">
            <a:extLst xmlns:a="http://schemas.openxmlformats.org/drawingml/2006/main">
              <a:ext uri="{FF2B5EF4-FFF2-40B4-BE49-F238E27FC236}">
                <a16:creationId xmlns:a16="http://schemas.microsoft.com/office/drawing/2014/main" id="{4EA48C91-9897-4564-9D37-FE29BB563D38}"/>
              </a:ext>
            </a:extLst>
          </p:cNvPr>
          <p:cNvSpPr>
            <a:spLocks xmlns:a="http://schemas.openxmlformats.org/drawingml/2006/main" noGrp="1"/>
          </p:cNvSpPr>
          <p:nvPr/>
        </p:nvSpPr>
        <p:spPr>
          <a:xfrm xmlns:a="http://schemas.openxmlformats.org/drawingml/2006/main">
            <a:off x="590550" y="2019300"/>
            <a:ext cx="10953750" cy="0"/>
          </a:xfrm>
          <a:prstGeom xmlns:a="http://schemas.openxmlformats.org/drawingml/2006/main" prst="line">
            <a:avLst/>
          </a:prstGeom>
          <a:ln xmlns:a="http://schemas.openxmlformats.org/drawingml/2006/main" w="11430">
            <a:solidFill>
              <a:srgbClr val="32495B"/>
            </a:solidFill>
          </a:ln>
        </p:spPr>
      </p:sp>
      <p:sp>
        <p:nvSpPr>
          <p:cNvPr id="6" name="">
            <a:extLst xmlns:a="http://schemas.openxmlformats.org/drawingml/2006/main">
              <a:ext uri="{FF2B5EF4-FFF2-40B4-BE49-F238E27FC236}">
                <a16:creationId xmlns:a16="http://schemas.microsoft.com/office/drawing/2014/main" id="{727CFA65-944A-4BDF-BAE7-9D50C99473C2}"/>
              </a:ext>
            </a:extLst>
          </p:cNvPr>
          <p:cNvSpPr>
            <a:spLocks xmlns:a="http://schemas.openxmlformats.org/drawingml/2006/main" noGrp="1"/>
          </p:cNvSpPr>
          <p:nvPr/>
        </p:nvSpPr>
        <p:spPr>
          <a:xfrm xmlns:a="http://schemas.openxmlformats.org/drawingml/2006/main">
            <a:off x="590550" y="21621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69D4E8"/>
                </a:solidFill>
                <a:latin typeface="Arial"/>
                <a:ea typeface="Arial"/>
                <a:cs typeface="Arial"/>
              </a:defRPr>
            </a:pPr>
            <a:r>
              <a:rPr sz="1875" b="1">
                <a:solidFill>
                  <a:srgbClr val="69D4E8"/>
                </a:solidFill>
                <a:latin typeface="Arial"/>
                <a:ea typeface="Arial"/>
                <a:cs typeface="Arial"/>
              </a:rPr>
              <a:t>Generation</a:t>
            </a:r>
          </a:p>
        </p:txBody>
      </p:sp>
      <p:sp>
        <p:nvSpPr>
          <p:cNvPr id="7" name="">
            <a:extLst xmlns:a="http://schemas.openxmlformats.org/drawingml/2006/main">
              <a:ext uri="{FF2B5EF4-FFF2-40B4-BE49-F238E27FC236}">
                <a16:creationId xmlns:a16="http://schemas.microsoft.com/office/drawing/2014/main" id="{B5F96C56-5DA0-419F-92BF-5067D8332DEC}"/>
              </a:ext>
            </a:extLst>
          </p:cNvPr>
          <p:cNvSpPr>
            <a:spLocks xmlns:a="http://schemas.openxmlformats.org/drawingml/2006/main" noGrp="1"/>
          </p:cNvSpPr>
          <p:nvPr/>
        </p:nvSpPr>
        <p:spPr>
          <a:xfrm xmlns:a="http://schemas.openxmlformats.org/drawingml/2006/main">
            <a:off x="3762375" y="2162175"/>
            <a:ext cx="7829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Gemini REST streaming through Requests</a:t>
            </a:r>
          </a:p>
        </p:txBody>
      </p:sp>
      <p:sp>
        <p:nvSpPr>
          <p:cNvPr id="8" name="">
            <a:extLst xmlns:a="http://schemas.openxmlformats.org/drawingml/2006/main">
              <a:ext uri="{FF2B5EF4-FFF2-40B4-BE49-F238E27FC236}">
                <a16:creationId xmlns:a16="http://schemas.microsoft.com/office/drawing/2014/main" id="{461E6AB3-AC24-4399-AE9B-4AC3B57D513C}"/>
              </a:ext>
            </a:extLst>
          </p:cNvPr>
          <p:cNvSpPr>
            <a:spLocks xmlns:a="http://schemas.openxmlformats.org/drawingml/2006/main" noGrp="1"/>
          </p:cNvSpPr>
          <p:nvPr/>
        </p:nvSpPr>
        <p:spPr>
          <a:xfrm xmlns:a="http://schemas.openxmlformats.org/drawingml/2006/main">
            <a:off x="590550" y="2705100"/>
            <a:ext cx="10953750" cy="0"/>
          </a:xfrm>
          <a:prstGeom xmlns:a="http://schemas.openxmlformats.org/drawingml/2006/main" prst="line">
            <a:avLst/>
          </a:prstGeom>
          <a:ln xmlns:a="http://schemas.openxmlformats.org/drawingml/2006/main" w="11430">
            <a:solidFill>
              <a:srgbClr val="32495B"/>
            </a:solidFill>
          </a:ln>
        </p:spPr>
      </p:sp>
      <p:sp>
        <p:nvSpPr>
          <p:cNvPr id="9" name="">
            <a:extLst xmlns:a="http://schemas.openxmlformats.org/drawingml/2006/main">
              <a:ext uri="{FF2B5EF4-FFF2-40B4-BE49-F238E27FC236}">
                <a16:creationId xmlns:a16="http://schemas.microsoft.com/office/drawing/2014/main" id="{53B31A22-C764-4CAF-8ABC-6BC52B4A8CEC}"/>
              </a:ext>
            </a:extLst>
          </p:cNvPr>
          <p:cNvSpPr>
            <a:spLocks xmlns:a="http://schemas.openxmlformats.org/drawingml/2006/main" noGrp="1"/>
          </p:cNvSpPr>
          <p:nvPr/>
        </p:nvSpPr>
        <p:spPr>
          <a:xfrm xmlns:a="http://schemas.openxmlformats.org/drawingml/2006/main">
            <a:off x="590550" y="28479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69D4E8"/>
                </a:solidFill>
                <a:latin typeface="Arial"/>
                <a:ea typeface="Arial"/>
                <a:cs typeface="Arial"/>
              </a:defRPr>
            </a:pPr>
            <a:r>
              <a:rPr sz="1875" b="1">
                <a:solidFill>
                  <a:srgbClr val="69D4E8"/>
                </a:solidFill>
                <a:latin typeface="Arial"/>
                <a:ea typeface="Arial"/>
                <a:cs typeface="Arial"/>
              </a:rPr>
              <a:t>Semantic search</a:t>
            </a:r>
          </a:p>
        </p:txBody>
      </p:sp>
      <p:sp>
        <p:nvSpPr>
          <p:cNvPr id="10" name="">
            <a:extLst xmlns:a="http://schemas.openxmlformats.org/drawingml/2006/main">
              <a:ext uri="{FF2B5EF4-FFF2-40B4-BE49-F238E27FC236}">
                <a16:creationId xmlns:a16="http://schemas.microsoft.com/office/drawing/2014/main" id="{3AF208E3-23F7-47A9-938B-CB009516F13F}"/>
              </a:ext>
            </a:extLst>
          </p:cNvPr>
          <p:cNvSpPr>
            <a:spLocks xmlns:a="http://schemas.openxmlformats.org/drawingml/2006/main" noGrp="1"/>
          </p:cNvSpPr>
          <p:nvPr/>
        </p:nvSpPr>
        <p:spPr>
          <a:xfrm xmlns:a="http://schemas.openxmlformats.org/drawingml/2006/main">
            <a:off x="3762375" y="2847975"/>
            <a:ext cx="7829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BGE-small-en-v1.5, Sentence Transformers and FAISS CPU</a:t>
            </a:r>
          </a:p>
        </p:txBody>
      </p:sp>
      <p:sp>
        <p:nvSpPr>
          <p:cNvPr id="11" name="">
            <a:extLst xmlns:a="http://schemas.openxmlformats.org/drawingml/2006/main">
              <a:ext uri="{FF2B5EF4-FFF2-40B4-BE49-F238E27FC236}">
                <a16:creationId xmlns:a16="http://schemas.microsoft.com/office/drawing/2014/main" id="{5E1E860B-95D4-4C70-8433-0F03BDB47BD5}"/>
              </a:ext>
            </a:extLst>
          </p:cNvPr>
          <p:cNvSpPr>
            <a:spLocks xmlns:a="http://schemas.openxmlformats.org/drawingml/2006/main" noGrp="1"/>
          </p:cNvSpPr>
          <p:nvPr/>
        </p:nvSpPr>
        <p:spPr>
          <a:xfrm xmlns:a="http://schemas.openxmlformats.org/drawingml/2006/main">
            <a:off x="590550" y="3390900"/>
            <a:ext cx="10953750" cy="0"/>
          </a:xfrm>
          <a:prstGeom xmlns:a="http://schemas.openxmlformats.org/drawingml/2006/main" prst="line">
            <a:avLst/>
          </a:prstGeom>
          <a:ln xmlns:a="http://schemas.openxmlformats.org/drawingml/2006/main" w="11430">
            <a:solidFill>
              <a:srgbClr val="32495B"/>
            </a:solidFill>
          </a:ln>
        </p:spPr>
      </p:sp>
      <p:sp>
        <p:nvSpPr>
          <p:cNvPr id="12" name="">
            <a:extLst xmlns:a="http://schemas.openxmlformats.org/drawingml/2006/main">
              <a:ext uri="{FF2B5EF4-FFF2-40B4-BE49-F238E27FC236}">
                <a16:creationId xmlns:a16="http://schemas.microsoft.com/office/drawing/2014/main" id="{A667D676-E1E7-4137-84B2-534A983E89BA}"/>
              </a:ext>
            </a:extLst>
          </p:cNvPr>
          <p:cNvSpPr>
            <a:spLocks xmlns:a="http://schemas.openxmlformats.org/drawingml/2006/main" noGrp="1"/>
          </p:cNvSpPr>
          <p:nvPr/>
        </p:nvSpPr>
        <p:spPr>
          <a:xfrm xmlns:a="http://schemas.openxmlformats.org/drawingml/2006/main">
            <a:off x="590550" y="35337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69D4E8"/>
                </a:solidFill>
                <a:latin typeface="Arial"/>
                <a:ea typeface="Arial"/>
                <a:cs typeface="Arial"/>
              </a:defRPr>
            </a:pPr>
            <a:r>
              <a:rPr sz="1875" b="1">
                <a:solidFill>
                  <a:srgbClr val="69D4E8"/>
                </a:solidFill>
                <a:latin typeface="Arial"/>
                <a:ea typeface="Arial"/>
                <a:cs typeface="Arial"/>
              </a:rPr>
              <a:t>Keyword search</a:t>
            </a:r>
          </a:p>
        </p:txBody>
      </p:sp>
      <p:sp>
        <p:nvSpPr>
          <p:cNvPr id="13" name="">
            <a:extLst xmlns:a="http://schemas.openxmlformats.org/drawingml/2006/main">
              <a:ext uri="{FF2B5EF4-FFF2-40B4-BE49-F238E27FC236}">
                <a16:creationId xmlns:a16="http://schemas.microsoft.com/office/drawing/2014/main" id="{0672561F-BFE7-4D68-8BA6-0D84C2E1DE7C}"/>
              </a:ext>
            </a:extLst>
          </p:cNvPr>
          <p:cNvSpPr>
            <a:spLocks xmlns:a="http://schemas.openxmlformats.org/drawingml/2006/main" noGrp="1"/>
          </p:cNvSpPr>
          <p:nvPr/>
        </p:nvSpPr>
        <p:spPr>
          <a:xfrm xmlns:a="http://schemas.openxmlformats.org/drawingml/2006/main">
            <a:off x="3762375" y="3533775"/>
            <a:ext cx="7829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rank-bm25</a:t>
            </a:r>
          </a:p>
        </p:txBody>
      </p:sp>
      <p:sp>
        <p:nvSpPr>
          <p:cNvPr id="14" name="">
            <a:extLst xmlns:a="http://schemas.openxmlformats.org/drawingml/2006/main">
              <a:ext uri="{FF2B5EF4-FFF2-40B4-BE49-F238E27FC236}">
                <a16:creationId xmlns:a16="http://schemas.microsoft.com/office/drawing/2014/main" id="{01C31174-13E1-4BBC-84D2-9DF12DCC5D7A}"/>
              </a:ext>
            </a:extLst>
          </p:cNvPr>
          <p:cNvSpPr>
            <a:spLocks xmlns:a="http://schemas.openxmlformats.org/drawingml/2006/main" noGrp="1"/>
          </p:cNvSpPr>
          <p:nvPr/>
        </p:nvSpPr>
        <p:spPr>
          <a:xfrm xmlns:a="http://schemas.openxmlformats.org/drawingml/2006/main">
            <a:off x="590550" y="4076700"/>
            <a:ext cx="10953750" cy="0"/>
          </a:xfrm>
          <a:prstGeom xmlns:a="http://schemas.openxmlformats.org/drawingml/2006/main" prst="line">
            <a:avLst/>
          </a:prstGeom>
          <a:ln xmlns:a="http://schemas.openxmlformats.org/drawingml/2006/main" w="11430">
            <a:solidFill>
              <a:srgbClr val="32495B"/>
            </a:solidFill>
          </a:ln>
        </p:spPr>
      </p:sp>
      <p:sp>
        <p:nvSpPr>
          <p:cNvPr id="15" name="">
            <a:extLst xmlns:a="http://schemas.openxmlformats.org/drawingml/2006/main">
              <a:ext uri="{FF2B5EF4-FFF2-40B4-BE49-F238E27FC236}">
                <a16:creationId xmlns:a16="http://schemas.microsoft.com/office/drawing/2014/main" id="{896F279B-A2F7-43D9-A35F-F442C229C70A}"/>
              </a:ext>
            </a:extLst>
          </p:cNvPr>
          <p:cNvSpPr>
            <a:spLocks xmlns:a="http://schemas.openxmlformats.org/drawingml/2006/main" noGrp="1"/>
          </p:cNvSpPr>
          <p:nvPr/>
        </p:nvSpPr>
        <p:spPr>
          <a:xfrm xmlns:a="http://schemas.openxmlformats.org/drawingml/2006/main">
            <a:off x="590550" y="42195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69D4E8"/>
                </a:solidFill>
                <a:latin typeface="Arial"/>
                <a:ea typeface="Arial"/>
                <a:cs typeface="Arial"/>
              </a:defRPr>
            </a:pPr>
            <a:r>
              <a:rPr sz="1875" b="1">
                <a:solidFill>
                  <a:srgbClr val="69D4E8"/>
                </a:solidFill>
                <a:latin typeface="Arial"/>
                <a:ea typeface="Arial"/>
                <a:cs typeface="Arial"/>
              </a:rPr>
              <a:t>Ingestion</a:t>
            </a:r>
          </a:p>
        </p:txBody>
      </p:sp>
      <p:sp>
        <p:nvSpPr>
          <p:cNvPr id="16" name="">
            <a:extLst xmlns:a="http://schemas.openxmlformats.org/drawingml/2006/main">
              <a:ext uri="{FF2B5EF4-FFF2-40B4-BE49-F238E27FC236}">
                <a16:creationId xmlns:a16="http://schemas.microsoft.com/office/drawing/2014/main" id="{9FF86687-B3A4-4BB9-8900-7BD751949440}"/>
              </a:ext>
            </a:extLst>
          </p:cNvPr>
          <p:cNvSpPr>
            <a:spLocks xmlns:a="http://schemas.openxmlformats.org/drawingml/2006/main" noGrp="1"/>
          </p:cNvSpPr>
          <p:nvPr/>
        </p:nvSpPr>
        <p:spPr>
          <a:xfrm xmlns:a="http://schemas.openxmlformats.org/drawingml/2006/main">
            <a:off x="3762375" y="4219575"/>
            <a:ext cx="7829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Requests, Beautiful Soup and PyMuPDF</a:t>
            </a:r>
          </a:p>
        </p:txBody>
      </p:sp>
      <p:sp>
        <p:nvSpPr>
          <p:cNvPr id="17" name="">
            <a:extLst xmlns:a="http://schemas.openxmlformats.org/drawingml/2006/main">
              <a:ext uri="{FF2B5EF4-FFF2-40B4-BE49-F238E27FC236}">
                <a16:creationId xmlns:a16="http://schemas.microsoft.com/office/drawing/2014/main" id="{539F25CC-51BF-49D1-80E3-D52297330DBF}"/>
              </a:ext>
            </a:extLst>
          </p:cNvPr>
          <p:cNvSpPr>
            <a:spLocks xmlns:a="http://schemas.openxmlformats.org/drawingml/2006/main" noGrp="1"/>
          </p:cNvSpPr>
          <p:nvPr/>
        </p:nvSpPr>
        <p:spPr>
          <a:xfrm xmlns:a="http://schemas.openxmlformats.org/drawingml/2006/main">
            <a:off x="590550" y="4762500"/>
            <a:ext cx="10953750" cy="0"/>
          </a:xfrm>
          <a:prstGeom xmlns:a="http://schemas.openxmlformats.org/drawingml/2006/main" prst="line">
            <a:avLst/>
          </a:prstGeom>
          <a:ln xmlns:a="http://schemas.openxmlformats.org/drawingml/2006/main" w="11430">
            <a:solidFill>
              <a:srgbClr val="32495B"/>
            </a:solidFill>
          </a:ln>
        </p:spPr>
      </p:sp>
      <p:sp>
        <p:nvSpPr>
          <p:cNvPr id="18" name="">
            <a:extLst xmlns:a="http://schemas.openxmlformats.org/drawingml/2006/main">
              <a:ext uri="{FF2B5EF4-FFF2-40B4-BE49-F238E27FC236}">
                <a16:creationId xmlns:a16="http://schemas.microsoft.com/office/drawing/2014/main" id="{AD383918-0CE1-4E69-8AE0-AF96B12FCED1}"/>
              </a:ext>
            </a:extLst>
          </p:cNvPr>
          <p:cNvSpPr>
            <a:spLocks xmlns:a="http://schemas.openxmlformats.org/drawingml/2006/main" noGrp="1"/>
          </p:cNvSpPr>
          <p:nvPr/>
        </p:nvSpPr>
        <p:spPr>
          <a:xfrm xmlns:a="http://schemas.openxmlformats.org/drawingml/2006/main">
            <a:off x="590550" y="4905375"/>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1">
                <a:solidFill>
                  <a:srgbClr val="69D4E8"/>
                </a:solidFill>
                <a:latin typeface="Arial"/>
                <a:ea typeface="Arial"/>
                <a:cs typeface="Arial"/>
              </a:defRPr>
            </a:pPr>
            <a:r>
              <a:rPr sz="1875" b="1">
                <a:solidFill>
                  <a:srgbClr val="69D4E8"/>
                </a:solidFill>
                <a:latin typeface="Arial"/>
                <a:ea typeface="Arial"/>
                <a:cs typeface="Arial"/>
              </a:rPr>
              <a:t>Chunking and support</a:t>
            </a:r>
          </a:p>
        </p:txBody>
      </p:sp>
      <p:sp>
        <p:nvSpPr>
          <p:cNvPr id="19" name="">
            <a:extLst xmlns:a="http://schemas.openxmlformats.org/drawingml/2006/main">
              <a:ext uri="{FF2B5EF4-FFF2-40B4-BE49-F238E27FC236}">
                <a16:creationId xmlns:a16="http://schemas.microsoft.com/office/drawing/2014/main" id="{E63BB4F6-6E6E-4124-86B3-58EBD31588E4}"/>
              </a:ext>
            </a:extLst>
          </p:cNvPr>
          <p:cNvSpPr>
            <a:spLocks xmlns:a="http://schemas.openxmlformats.org/drawingml/2006/main" noGrp="1"/>
          </p:cNvSpPr>
          <p:nvPr/>
        </p:nvSpPr>
        <p:spPr>
          <a:xfrm xmlns:a="http://schemas.openxmlformats.org/drawingml/2006/main">
            <a:off x="3762375" y="4905375"/>
            <a:ext cx="7829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LangChain text splitters, python-dotenv and Pytest</a:t>
            </a:r>
          </a:p>
        </p:txBody>
      </p:sp>
      <p:sp>
        <p:nvSpPr>
          <p:cNvPr id="20" name="">
            <a:extLst xmlns:a="http://schemas.openxmlformats.org/drawingml/2006/main">
              <a:ext uri="{FF2B5EF4-FFF2-40B4-BE49-F238E27FC236}">
                <a16:creationId xmlns:a16="http://schemas.microsoft.com/office/drawing/2014/main" id="{85870F07-857C-4B00-892B-5E8A71BB0B16}"/>
              </a:ext>
            </a:extLst>
          </p:cNvPr>
          <p:cNvSpPr>
            <a:spLocks xmlns:a="http://schemas.openxmlformats.org/drawingml/2006/main" noGrp="1"/>
          </p:cNvSpPr>
          <p:nvPr/>
        </p:nvSpPr>
        <p:spPr>
          <a:xfrm xmlns:a="http://schemas.openxmlformats.org/drawingml/2006/main">
            <a:off x="590550" y="5448300"/>
            <a:ext cx="10953750" cy="0"/>
          </a:xfrm>
          <a:prstGeom xmlns:a="http://schemas.openxmlformats.org/drawingml/2006/main" prst="line">
            <a:avLst/>
          </a:prstGeom>
          <a:ln xmlns:a="http://schemas.openxmlformats.org/drawingml/2006/main" w="11430">
            <a:solidFill>
              <a:srgbClr val="32495B"/>
            </a:solidFill>
          </a:ln>
        </p:spPr>
      </p:sp>
      <p:sp>
        <p:nvSpPr>
          <p:cNvPr id="21" name="">
            <a:extLst xmlns:a="http://schemas.openxmlformats.org/drawingml/2006/main">
              <a:ext uri="{FF2B5EF4-FFF2-40B4-BE49-F238E27FC236}">
                <a16:creationId xmlns:a16="http://schemas.microsoft.com/office/drawing/2014/main" id="{882E8A7F-D511-4B0E-AB94-75A563DE9322}"/>
              </a:ext>
            </a:extLst>
          </p:cNvPr>
          <p:cNvSpPr>
            <a:spLocks xmlns:a="http://schemas.openxmlformats.org/drawingml/2006/main" noGrp="1"/>
          </p:cNvSpPr>
          <p:nvPr/>
        </p:nvSpPr>
        <p:spPr>
          <a:xfrm xmlns:a="http://schemas.openxmlformats.org/drawingml/2006/main">
            <a:off x="590550" y="591502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Optional and inactive: Qwen with Transformers or llama.cpp</a:t>
            </a:r>
          </a:p>
        </p:txBody>
      </p:sp>
    </p:spTree>
    <p:extLst>
      <p:ext uri="{BB962C8B-B14F-4D97-AF65-F5344CB8AC3E}">
        <p14:creationId xmlns:p14="http://schemas.microsoft.com/office/powerpoint/2010/main" val="307052434"/>
      </p:ext>
    </p:extLst>
  </p:cSld>
</p:sld>
</file>

<file path=ppt/slides/slide8.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D552D9-8C8D-43BD-9AFF-ED743D1EFC2D}"/>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CF850DC3-D22F-43EF-B70A-8B33B37B759D}"/>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Security, reliability and testing</a:t>
            </a:r>
          </a:p>
        </p:txBody>
      </p:sp>
      <p:sp>
        <p:nvSpPr>
          <p:cNvPr id="3" name="">
            <a:extLst xmlns:a="http://schemas.openxmlformats.org/drawingml/2006/main">
              <a:ext uri="{FF2B5EF4-FFF2-40B4-BE49-F238E27FC236}">
                <a16:creationId xmlns:a16="http://schemas.microsoft.com/office/drawing/2014/main" id="{16A627B8-2CD5-46BB-AC1F-1305B03192ED}"/>
              </a:ext>
            </a:extLst>
          </p:cNvPr>
          <p:cNvSpPr>
            <a:spLocks xmlns:a="http://schemas.openxmlformats.org/drawingml/2006/main" noGrp="1"/>
          </p:cNvSpPr>
          <p:nvPr/>
        </p:nvSpPr>
        <p:spPr>
          <a:xfrm xmlns:a="http://schemas.openxmlformats.org/drawingml/2006/main">
            <a:off x="590550" y="14001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69D4E8"/>
                </a:solidFill>
                <a:latin typeface="Arial"/>
                <a:ea typeface="Arial"/>
                <a:cs typeface="Arial"/>
              </a:defRPr>
            </a:pPr>
            <a:r>
              <a:rPr sz="2250" b="1">
                <a:solidFill>
                  <a:srgbClr val="69D4E8"/>
                </a:solidFill>
                <a:latin typeface="Arial"/>
                <a:ea typeface="Arial"/>
                <a:cs typeface="Arial"/>
              </a:rPr>
              <a:t>Implemented protections</a:t>
            </a:r>
          </a:p>
        </p:txBody>
      </p:sp>
      <p:sp>
        <p:nvSpPr>
          <p:cNvPr id="4" name="">
            <a:extLst xmlns:a="http://schemas.openxmlformats.org/drawingml/2006/main">
              <a:ext uri="{FF2B5EF4-FFF2-40B4-BE49-F238E27FC236}">
                <a16:creationId xmlns:a16="http://schemas.microsoft.com/office/drawing/2014/main" id="{B746F0F7-7EE8-4CF0-B03E-625F643FE691}"/>
              </a:ext>
            </a:extLst>
          </p:cNvPr>
          <p:cNvSpPr>
            <a:spLocks xmlns:a="http://schemas.openxmlformats.org/drawingml/2006/main" noGrp="1"/>
          </p:cNvSpPr>
          <p:nvPr/>
        </p:nvSpPr>
        <p:spPr>
          <a:xfrm xmlns:a="http://schemas.openxmlformats.org/drawingml/2006/main">
            <a:off x="590550" y="2047875"/>
            <a:ext cx="5191125" cy="3457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Server-side key and ignored .env</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PACE host and redirect validation</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PDF size and signature checks</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Prompt-injection instruction</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Citation-label validation</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Checksums and gated activation</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Non-destructive index rollback</a:t>
            </a:r>
          </a:p>
          <a:p xmlns:a="http://schemas.openxmlformats.org/drawingml/2006/main">
            <a:pPr>
              <a:defRPr sz="1950" b="0">
                <a:solidFill>
                  <a:srgbClr val="F2F6FA"/>
                </a:solidFill>
                <a:latin typeface="Arial"/>
                <a:ea typeface="Arial"/>
                <a:cs typeface="Arial"/>
              </a:defRPr>
            </a:pPr>
            <a:r>
              <a:rPr sz="1950" b="0">
                <a:solidFill>
                  <a:srgbClr val="F2F6FA"/>
                </a:solidFill>
                <a:latin typeface="Arial"/>
                <a:ea typeface="Arial"/>
                <a:cs typeface="Arial"/>
              </a:rPr>
              <a:t>Localhost-only binding</a:t>
            </a:r>
          </a:p>
        </p:txBody>
      </p:sp>
      <p:sp>
        <p:nvSpPr>
          <p:cNvPr id="5" name="">
            <a:extLst xmlns:a="http://schemas.openxmlformats.org/drawingml/2006/main">
              <a:ext uri="{FF2B5EF4-FFF2-40B4-BE49-F238E27FC236}">
                <a16:creationId xmlns:a16="http://schemas.microsoft.com/office/drawing/2014/main" id="{330A6391-A797-4503-96DA-4AFBE020DB80}"/>
              </a:ext>
            </a:extLst>
          </p:cNvPr>
          <p:cNvSpPr>
            <a:spLocks xmlns:a="http://schemas.openxmlformats.org/drawingml/2006/main" noGrp="1"/>
          </p:cNvSpPr>
          <p:nvPr/>
        </p:nvSpPr>
        <p:spPr>
          <a:xfrm xmlns:a="http://schemas.openxmlformats.org/drawingml/2006/main">
            <a:off x="6677025" y="1371600"/>
            <a:ext cx="4667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8CDCAC"/>
                </a:solidFill>
                <a:latin typeface="Arial"/>
                <a:ea typeface="Arial"/>
                <a:cs typeface="Arial"/>
              </a:defRPr>
            </a:pPr>
            <a:r>
              <a:rPr sz="5700" b="1">
                <a:solidFill>
                  <a:srgbClr val="8CDCAC"/>
                </a:solidFill>
                <a:latin typeface="Arial"/>
                <a:ea typeface="Arial"/>
                <a:cs typeface="Arial"/>
              </a:rPr>
              <a:t>89</a:t>
            </a:r>
          </a:p>
        </p:txBody>
      </p:sp>
      <p:sp>
        <p:nvSpPr>
          <p:cNvPr id="6" name="">
            <a:extLst xmlns:a="http://schemas.openxmlformats.org/drawingml/2006/main">
              <a:ext uri="{FF2B5EF4-FFF2-40B4-BE49-F238E27FC236}">
                <a16:creationId xmlns:a16="http://schemas.microsoft.com/office/drawing/2014/main" id="{20A99841-BB46-47B4-BFCB-A355C09FBEF6}"/>
              </a:ext>
            </a:extLst>
          </p:cNvPr>
          <p:cNvSpPr>
            <a:spLocks xmlns:a="http://schemas.openxmlformats.org/drawingml/2006/main" noGrp="1"/>
          </p:cNvSpPr>
          <p:nvPr/>
        </p:nvSpPr>
        <p:spPr>
          <a:xfrm xmlns:a="http://schemas.openxmlformats.org/drawingml/2006/main">
            <a:off x="6705600" y="2362200"/>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F2F6FA"/>
                </a:solidFill>
                <a:latin typeface="Arial"/>
                <a:ea typeface="Arial"/>
                <a:cs typeface="Arial"/>
              </a:defRPr>
            </a:pPr>
            <a:r>
              <a:rPr sz="2025" b="0">
                <a:solidFill>
                  <a:srgbClr val="F2F6FA"/>
                </a:solidFill>
                <a:latin typeface="Arial"/>
                <a:ea typeface="Arial"/>
                <a:cs typeface="Arial"/>
              </a:rPr>
              <a:t>automated tests passed</a:t>
            </a:r>
          </a:p>
        </p:txBody>
      </p:sp>
      <p:sp>
        <p:nvSpPr>
          <p:cNvPr id="7" name="">
            <a:extLst xmlns:a="http://schemas.openxmlformats.org/drawingml/2006/main">
              <a:ext uri="{FF2B5EF4-FFF2-40B4-BE49-F238E27FC236}">
                <a16:creationId xmlns:a16="http://schemas.microsoft.com/office/drawing/2014/main" id="{5A91E543-C10E-4E3F-9CA4-E056DA7D1059}"/>
              </a:ext>
            </a:extLst>
          </p:cNvPr>
          <p:cNvSpPr>
            <a:spLocks xmlns:a="http://schemas.openxmlformats.org/drawingml/2006/main" noGrp="1"/>
          </p:cNvSpPr>
          <p:nvPr/>
        </p:nvSpPr>
        <p:spPr>
          <a:xfrm xmlns:a="http://schemas.openxmlformats.org/drawingml/2006/main">
            <a:off x="6705600" y="3009900"/>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69D4E8"/>
                </a:solidFill>
                <a:latin typeface="Arial"/>
                <a:ea typeface="Arial"/>
                <a:cs typeface="Arial"/>
              </a:defRPr>
            </a:pPr>
            <a:r>
              <a:rPr sz="2175" b="1">
                <a:solidFill>
                  <a:srgbClr val="69D4E8"/>
                </a:solidFill>
                <a:latin typeface="Arial"/>
                <a:ea typeface="Arial"/>
                <a:cs typeface="Arial"/>
              </a:rPr>
              <a:t>17/17 curated retrieval checks</a:t>
            </a:r>
          </a:p>
        </p:txBody>
      </p:sp>
      <p:sp>
        <p:nvSpPr>
          <p:cNvPr id="8" name="">
            <a:extLst xmlns:a="http://schemas.openxmlformats.org/drawingml/2006/main">
              <a:ext uri="{FF2B5EF4-FFF2-40B4-BE49-F238E27FC236}">
                <a16:creationId xmlns:a16="http://schemas.microsoft.com/office/drawing/2014/main" id="{B94ABA18-B827-4C4C-8230-3B37D22341FA}"/>
              </a:ext>
            </a:extLst>
          </p:cNvPr>
          <p:cNvSpPr>
            <a:spLocks xmlns:a="http://schemas.openxmlformats.org/drawingml/2006/main" noGrp="1"/>
          </p:cNvSpPr>
          <p:nvPr/>
        </p:nvSpPr>
        <p:spPr>
          <a:xfrm xmlns:a="http://schemas.openxmlformats.org/drawingml/2006/main">
            <a:off x="6705600" y="3667125"/>
            <a:ext cx="46386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Missing R99 and unrelated queries rejected</a:t>
            </a:r>
          </a:p>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AIML R23 retained PDF pages 2 and 3</a:t>
            </a:r>
          </a:p>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Live Gemini placement answer validated</a:t>
            </a:r>
          </a:p>
        </p:txBody>
      </p:sp>
      <p:sp>
        <p:nvSpPr>
          <p:cNvPr id="9" name="">
            <a:extLst xmlns:a="http://schemas.openxmlformats.org/drawingml/2006/main">
              <a:ext uri="{FF2B5EF4-FFF2-40B4-BE49-F238E27FC236}">
                <a16:creationId xmlns:a16="http://schemas.microsoft.com/office/drawing/2014/main" id="{BF96A1AF-342F-43E6-BE5E-7D7F8D9D0D90}"/>
              </a:ext>
            </a:extLst>
          </p:cNvPr>
          <p:cNvSpPr>
            <a:spLocks xmlns:a="http://schemas.openxmlformats.org/drawingml/2006/main" noGrp="1"/>
          </p:cNvSpPr>
          <p:nvPr/>
        </p:nvSpPr>
        <p:spPr>
          <a:xfrm xmlns:a="http://schemas.openxmlformats.org/drawingml/2006/main">
            <a:off x="590550" y="59721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Observed results, not a guarantee of perfect accuracy or fixed latency.</a:t>
            </a:r>
          </a:p>
        </p:txBody>
      </p:sp>
    </p:spTree>
    <p:extLst>
      <p:ext uri="{BB962C8B-B14F-4D97-AF65-F5344CB8AC3E}">
        <p14:creationId xmlns:p14="http://schemas.microsoft.com/office/powerpoint/2010/main" val="1167352454"/>
      </p:ext>
    </p:extLst>
  </p:cSld>
</p:sld>
</file>

<file path=ppt/slides/slide9.xml><?xml version="1.0" encoding="utf-8"?>
<p:sld xmlns:p="http://schemas.openxmlformats.org/presentationml/2006/main">
  <p:cSld>
    <p:bg>
      <p:bgPr>
        <a:solidFill xmlns:a="http://schemas.openxmlformats.org/drawingml/2006/main">
          <a:srgbClr val="0D172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819D64-E2C9-4B73-9976-89DA3CB7EA43}"/>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002FA1FA-8CC7-4699-8BD3-4BE3FF69CE94}"/>
              </a:ext>
            </a:extLst>
          </p:cNvPr>
          <p:cNvSpPr>
            <a:spLocks xmlns:a="http://schemas.openxmlformats.org/drawingml/2006/main" noGrp="1"/>
          </p:cNvSpPr>
          <p:nvPr/>
        </p:nvSpPr>
        <p:spPr>
          <a:xfrm xmlns:a="http://schemas.openxmlformats.org/drawingml/2006/main">
            <a:off x="590550" y="45720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F2F6FA"/>
                </a:solidFill>
                <a:latin typeface="Arial"/>
                <a:ea typeface="Arial"/>
                <a:cs typeface="Arial"/>
              </a:defRPr>
            </a:pPr>
            <a:r>
              <a:rPr sz="3300" b="1">
                <a:solidFill>
                  <a:srgbClr val="F2F6FA"/>
                </a:solidFill>
                <a:latin typeface="Arial"/>
                <a:ea typeface="Arial"/>
                <a:cs typeface="Arial"/>
              </a:rPr>
              <a:t>Demonstration and next steps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2812a16d1ba4ba5"/>
          <a:stretch xmlns:a="http://schemas.openxmlformats.org/drawingml/2006/main"/>
        </p:blipFill>
        <p:spPr>
          <a:xfrm xmlns:a="http://schemas.openxmlformats.org/drawingml/2006/main">
            <a:off x="591403" y="1333500"/>
            <a:ext cx="6389569" cy="28860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1DDB919-85B8-4D6E-8413-91A90CDC6FA5}"/>
              </a:ext>
            </a:extLst>
          </p:cNvPr>
          <p:cNvSpPr>
            <a:spLocks xmlns:a="http://schemas.openxmlformats.org/drawingml/2006/main" noGrp="1"/>
          </p:cNvSpPr>
          <p:nvPr/>
        </p:nvSpPr>
        <p:spPr>
          <a:xfrm xmlns:a="http://schemas.openxmlformats.org/drawingml/2006/main">
            <a:off x="7458075" y="1409700"/>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69D4E8"/>
                </a:solidFill>
                <a:latin typeface="Arial"/>
                <a:ea typeface="Arial"/>
                <a:cs typeface="Arial"/>
              </a:defRPr>
            </a:pPr>
            <a:r>
              <a:rPr sz="2175" b="1">
                <a:solidFill>
                  <a:srgbClr val="69D4E8"/>
                </a:solidFill>
                <a:latin typeface="Arial"/>
                <a:ea typeface="Arial"/>
                <a:cs typeface="Arial"/>
              </a:rPr>
              <a:t>Live demonstration</a:t>
            </a:r>
          </a:p>
        </p:txBody>
      </p:sp>
      <p:sp>
        <p:nvSpPr>
          <p:cNvPr id="5" name="">
            <a:extLst xmlns:a="http://schemas.openxmlformats.org/drawingml/2006/main">
              <a:ext uri="{FF2B5EF4-FFF2-40B4-BE49-F238E27FC236}">
                <a16:creationId xmlns:a16="http://schemas.microsoft.com/office/drawing/2014/main" id="{81437587-9C0D-4546-B610-10DF9E660784}"/>
              </a:ext>
            </a:extLst>
          </p:cNvPr>
          <p:cNvSpPr>
            <a:spLocks xmlns:a="http://schemas.openxmlformats.org/drawingml/2006/main" noGrp="1"/>
          </p:cNvSpPr>
          <p:nvPr/>
        </p:nvSpPr>
        <p:spPr>
          <a:xfrm xmlns:a="http://schemas.openxmlformats.org/drawingml/2006/main">
            <a:off x="7458075" y="1943100"/>
            <a:ext cx="40767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Open PACE AI</a:t>
            </a:r>
          </a:p>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Ask “AIML R23 syllabus”</a:t>
            </a:r>
          </a:p>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Show semester overview</a:t>
            </a:r>
          </a:p>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Open PDF pages 2 and 3</a:t>
            </a:r>
          </a:p>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Ask for missing R99</a:t>
            </a:r>
          </a:p>
          <a:p xmlns:a="http://schemas.openxmlformats.org/drawingml/2006/main">
            <a:pPr>
              <a:defRPr sz="1875" b="0">
                <a:solidFill>
                  <a:srgbClr val="F2F6FA"/>
                </a:solidFill>
                <a:latin typeface="Arial"/>
                <a:ea typeface="Arial"/>
                <a:cs typeface="Arial"/>
              </a:defRPr>
            </a:pPr>
            <a:r>
              <a:rPr sz="1875" b="0">
                <a:solidFill>
                  <a:srgbClr val="F2F6FA"/>
                </a:solidFill>
                <a:latin typeface="Arial"/>
                <a:ea typeface="Arial"/>
                <a:cs typeface="Arial"/>
              </a:rPr>
              <a:t>Show the safe refusal</a:t>
            </a:r>
          </a:p>
        </p:txBody>
      </p:sp>
      <p:sp>
        <p:nvSpPr>
          <p:cNvPr id="6" name="">
            <a:extLst xmlns:a="http://schemas.openxmlformats.org/drawingml/2006/main">
              <a:ext uri="{FF2B5EF4-FFF2-40B4-BE49-F238E27FC236}">
                <a16:creationId xmlns:a16="http://schemas.microsoft.com/office/drawing/2014/main" id="{E80EFC64-211D-4700-A196-B719288AB3B2}"/>
              </a:ext>
            </a:extLst>
          </p:cNvPr>
          <p:cNvSpPr>
            <a:spLocks xmlns:a="http://schemas.openxmlformats.org/drawingml/2006/main" noGrp="1"/>
          </p:cNvSpPr>
          <p:nvPr/>
        </p:nvSpPr>
        <p:spPr>
          <a:xfrm xmlns:a="http://schemas.openxmlformats.org/drawingml/2006/main">
            <a:off x="590550" y="4457700"/>
            <a:ext cx="10953750" cy="0"/>
          </a:xfrm>
          <a:prstGeom xmlns:a="http://schemas.openxmlformats.org/drawingml/2006/main" prst="line">
            <a:avLst/>
          </a:prstGeom>
          <a:ln xmlns:a="http://schemas.openxmlformats.org/drawingml/2006/main" w="11430">
            <a:solidFill>
              <a:srgbClr val="32495B"/>
            </a:solidFill>
          </a:ln>
        </p:spPr>
      </p:sp>
      <p:sp>
        <p:nvSpPr>
          <p:cNvPr id="7" name="">
            <a:extLst xmlns:a="http://schemas.openxmlformats.org/drawingml/2006/main">
              <a:ext uri="{FF2B5EF4-FFF2-40B4-BE49-F238E27FC236}">
                <a16:creationId xmlns:a16="http://schemas.microsoft.com/office/drawing/2014/main" id="{9BA950FC-99DA-40EF-AA86-5071C73E0D1C}"/>
              </a:ext>
            </a:extLst>
          </p:cNvPr>
          <p:cNvSpPr>
            <a:spLocks xmlns:a="http://schemas.openxmlformats.org/drawingml/2006/main" noGrp="1"/>
          </p:cNvSpPr>
          <p:nvPr/>
        </p:nvSpPr>
        <p:spPr>
          <a:xfrm xmlns:a="http://schemas.openxmlformats.org/drawingml/2006/main">
            <a:off x="590550" y="4676775"/>
            <a:ext cx="491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7C5D3"/>
                </a:solidFill>
                <a:latin typeface="Arial"/>
                <a:ea typeface="Arial"/>
                <a:cs typeface="Arial"/>
              </a:defRPr>
            </a:pPr>
            <a:r>
              <a:rPr sz="2100" b="1">
                <a:solidFill>
                  <a:srgbClr val="B7C5D3"/>
                </a:solidFill>
                <a:latin typeface="Arial"/>
                <a:ea typeface="Arial"/>
                <a:cs typeface="Arial"/>
              </a:rPr>
              <a:t>Current limitations</a:t>
            </a:r>
          </a:p>
        </p:txBody>
      </p:sp>
      <p:sp>
        <p:nvSpPr>
          <p:cNvPr id="8" name="">
            <a:extLst xmlns:a="http://schemas.openxmlformats.org/drawingml/2006/main">
              <a:ext uri="{FF2B5EF4-FFF2-40B4-BE49-F238E27FC236}">
                <a16:creationId xmlns:a16="http://schemas.microsoft.com/office/drawing/2014/main" id="{FAB5CB48-8076-449B-AE7C-973A5E221885}"/>
              </a:ext>
            </a:extLst>
          </p:cNvPr>
          <p:cNvSpPr>
            <a:spLocks xmlns:a="http://schemas.openxmlformats.org/drawingml/2006/main" noGrp="1"/>
          </p:cNvSpPr>
          <p:nvPr/>
        </p:nvSpPr>
        <p:spPr>
          <a:xfrm xmlns:a="http://schemas.openxmlformats.org/drawingml/2006/main">
            <a:off x="590550" y="51530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Saved snapshot, no automatic refresh</a:t>
            </a:r>
          </a:p>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Cold first semantic query, no OCR</a:t>
            </a:r>
          </a:p>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No auth or persistent chat history</a:t>
            </a:r>
          </a:p>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Small curated evaluation set</a:t>
            </a:r>
          </a:p>
        </p:txBody>
      </p:sp>
      <p:sp>
        <p:nvSpPr>
          <p:cNvPr id="9" name="">
            <a:extLst xmlns:a="http://schemas.openxmlformats.org/drawingml/2006/main">
              <a:ext uri="{FF2B5EF4-FFF2-40B4-BE49-F238E27FC236}">
                <a16:creationId xmlns:a16="http://schemas.microsoft.com/office/drawing/2014/main" id="{DD98AF51-F6D3-4D9C-BEFA-7E1D168F6433}"/>
              </a:ext>
            </a:extLst>
          </p:cNvPr>
          <p:cNvSpPr>
            <a:spLocks xmlns:a="http://schemas.openxmlformats.org/drawingml/2006/main" noGrp="1"/>
          </p:cNvSpPr>
          <p:nvPr/>
        </p:nvSpPr>
        <p:spPr>
          <a:xfrm xmlns:a="http://schemas.openxmlformats.org/drawingml/2006/main">
            <a:off x="6267450" y="4676775"/>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8CDCAC"/>
                </a:solidFill>
                <a:latin typeface="Arial"/>
                <a:ea typeface="Arial"/>
                <a:cs typeface="Arial"/>
              </a:defRPr>
            </a:pPr>
            <a:r>
              <a:rPr sz="2100" b="1">
                <a:solidFill>
                  <a:srgbClr val="8CDCAC"/>
                </a:solidFill>
                <a:latin typeface="Arial"/>
                <a:ea typeface="Arial"/>
                <a:cs typeface="Arial"/>
              </a:rPr>
              <a:t>Future scope (not implemented)</a:t>
            </a:r>
          </a:p>
        </p:txBody>
      </p:sp>
      <p:sp>
        <p:nvSpPr>
          <p:cNvPr id="10" name="">
            <a:extLst xmlns:a="http://schemas.openxmlformats.org/drawingml/2006/main">
              <a:ext uri="{FF2B5EF4-FFF2-40B4-BE49-F238E27FC236}">
                <a16:creationId xmlns:a16="http://schemas.microsoft.com/office/drawing/2014/main" id="{81044223-AD65-42EA-AE8E-ECA0C1F74D9A}"/>
              </a:ext>
            </a:extLst>
          </p:cNvPr>
          <p:cNvSpPr>
            <a:spLocks xmlns:a="http://schemas.openxmlformats.org/drawingml/2006/main" noGrp="1"/>
          </p:cNvSpPr>
          <p:nvPr/>
        </p:nvSpPr>
        <p:spPr>
          <a:xfrm xmlns:a="http://schemas.openxmlformats.org/drawingml/2006/main">
            <a:off x="6267450" y="5153025"/>
            <a:ext cx="5276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Conditional refresh and embedding reuse</a:t>
            </a:r>
          </a:p>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Gated updates, warmup and OCR</a:t>
            </a:r>
          </a:p>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Bounded history, auth and rate limits</a:t>
            </a:r>
          </a:p>
          <a:p xmlns:a="http://schemas.openxmlformats.org/drawingml/2006/main">
            <a:pPr>
              <a:defRPr sz="1725" b="0">
                <a:solidFill>
                  <a:srgbClr val="F2F6FA"/>
                </a:solidFill>
                <a:latin typeface="Arial"/>
                <a:ea typeface="Arial"/>
                <a:cs typeface="Arial"/>
              </a:defRPr>
            </a:pPr>
            <a:r>
              <a:rPr sz="1725" b="0">
                <a:solidFill>
                  <a:srgbClr val="F2F6FA"/>
                </a:solidFill>
                <a:latin typeface="Arial"/>
                <a:ea typeface="Arial"/>
                <a:cs typeface="Arial"/>
              </a:rPr>
              <a:t>Larger evaluation set</a:t>
            </a:r>
          </a:p>
        </p:txBody>
      </p:sp>
    </p:spTree>
    <p:extLst>
      <p:ext uri="{BB962C8B-B14F-4D97-AF65-F5344CB8AC3E}">
        <p14:creationId xmlns:p14="http://schemas.microsoft.com/office/powerpoint/2010/main" val="476010646"/>
      </p:ext>
    </p:extLst>
  </p:cSld>
</p:sld>
</file>

<file path=ppt/slides/slide10.xml><?xml version="1.0" encoding="utf-8"?>
<p:sld xmlns:p="http://schemas.openxmlformats.org/presentationml/2006/main">
  <p:cSld>
    <p:bg>
      <p:bgPr>
        <a:gradFill xmlns:a="http://schemas.openxmlformats.org/drawingml/2006/main">
          <a:gsLst>
            <a:gs pos="0">
              <a:srgbClr val="0D1725"/>
            </a:gs>
            <a:gs pos="72000">
              <a:srgbClr val="132C3F"/>
            </a:gs>
            <a:gs pos="100000">
              <a:srgbClr val="12342E"/>
            </a:gs>
          </a:gsLst>
          <a:lin ang="75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5156C9-0C71-497A-97C6-DB59A48FE720}"/>
              </a:ext>
            </a:extLst>
          </p:cNvPr>
          <p:cNvSpPr>
            <a:spLocks xmlns:a="http://schemas.openxmlformats.org/drawingml/2006/main" noGrp="1"/>
          </p:cNvSpPr>
          <p:nvPr/>
        </p:nvSpPr>
        <p:spPr>
          <a:xfrm xmlns:a="http://schemas.openxmlformats.org/drawingml/2006/main">
            <a:off x="11172825" y="62198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0">
                <a:solidFill>
                  <a:srgbClr val="B7C5D3"/>
                </a:solidFill>
                <a:latin typeface="Arial"/>
                <a:ea typeface="Arial"/>
                <a:cs typeface="Arial"/>
              </a:defRPr>
            </a:pPr>
            <a:r>
              <a:rPr sz="1350" b="0">
                <a:solidFill>
                  <a:srgbClr val="B7C5D3"/>
                </a:solidFill>
                <a:latin typeface="Arial"/>
                <a:ea typeface="Arial"/>
                <a:cs typeface="Arial"/>
              </a:rPr>
              <a:t>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bb44b6ed5b441a7"/>
          <a:stretch xmlns:a="http://schemas.openxmlformats.org/drawingml/2006/main"/>
        </p:blipFill>
        <p:spPr>
          <a:xfrm xmlns:a="http://schemas.openxmlformats.org/drawingml/2006/main">
            <a:off x="600075" y="504825"/>
            <a:ext cx="914400" cy="9144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48364A5-B27F-4787-9450-0DD336318D88}"/>
              </a:ext>
            </a:extLst>
          </p:cNvPr>
          <p:cNvSpPr>
            <a:spLocks xmlns:a="http://schemas.openxmlformats.org/drawingml/2006/main" noGrp="1"/>
          </p:cNvSpPr>
          <p:nvPr/>
        </p:nvSpPr>
        <p:spPr>
          <a:xfrm xmlns:a="http://schemas.openxmlformats.org/drawingml/2006/main">
            <a:off x="590550" y="1819275"/>
            <a:ext cx="1028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875" b="1">
                <a:solidFill>
                  <a:srgbClr val="F2F6FA"/>
                </a:solidFill>
                <a:latin typeface="Arial"/>
                <a:ea typeface="Arial"/>
                <a:cs typeface="Arial"/>
              </a:defRPr>
            </a:pPr>
            <a:r>
              <a:rPr sz="4875" b="1">
                <a:solidFill>
                  <a:srgbClr val="F2F6FA"/>
                </a:solidFill>
                <a:latin typeface="Arial"/>
                <a:ea typeface="Arial"/>
                <a:cs typeface="Arial"/>
              </a:rPr>
              <a:t>PACE AI</a:t>
            </a:r>
          </a:p>
        </p:txBody>
      </p:sp>
      <p:sp>
        <p:nvSpPr>
          <p:cNvPr id="4" name="">
            <a:extLst xmlns:a="http://schemas.openxmlformats.org/drawingml/2006/main">
              <a:ext uri="{FF2B5EF4-FFF2-40B4-BE49-F238E27FC236}">
                <a16:creationId xmlns:a16="http://schemas.microsoft.com/office/drawing/2014/main" id="{EA61979A-E87D-4BFD-84D1-031F20A7E1D4}"/>
              </a:ext>
            </a:extLst>
          </p:cNvPr>
          <p:cNvSpPr>
            <a:spLocks xmlns:a="http://schemas.openxmlformats.org/drawingml/2006/main" noGrp="1"/>
          </p:cNvSpPr>
          <p:nvPr/>
        </p:nvSpPr>
        <p:spPr>
          <a:xfrm xmlns:a="http://schemas.openxmlformats.org/drawingml/2006/main">
            <a:off x="590550" y="27813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225" b="1">
                <a:solidFill>
                  <a:srgbClr val="69D4E8"/>
                </a:solidFill>
                <a:latin typeface="Arial"/>
                <a:ea typeface="Arial"/>
                <a:cs typeface="Arial"/>
              </a:defRPr>
            </a:pPr>
            <a:r>
              <a:rPr sz="3225" b="1">
                <a:solidFill>
                  <a:srgbClr val="69D4E8"/>
                </a:solidFill>
                <a:latin typeface="Arial"/>
                <a:ea typeface="Arial"/>
                <a:cs typeface="Arial"/>
              </a:rPr>
              <a:t>A searchable, source-linked assistant</a:t>
            </a:r>
          </a:p>
          <a:p xmlns:a="http://schemas.openxmlformats.org/drawingml/2006/main">
            <a:pPr>
              <a:defRPr sz="3225" b="1">
                <a:solidFill>
                  <a:srgbClr val="69D4E8"/>
                </a:solidFill>
                <a:latin typeface="Arial"/>
                <a:ea typeface="Arial"/>
                <a:cs typeface="Arial"/>
              </a:defRPr>
            </a:pPr>
            <a:r>
              <a:rPr sz="3225" b="1">
                <a:solidFill>
                  <a:srgbClr val="69D4E8"/>
                </a:solidFill>
                <a:latin typeface="Arial"/>
                <a:ea typeface="Arial"/>
                <a:cs typeface="Arial"/>
              </a:rPr>
              <a:t>for official campus information</a:t>
            </a:r>
          </a:p>
        </p:txBody>
      </p:sp>
      <p:sp>
        <p:nvSpPr>
          <p:cNvPr id="5" name="">
            <a:extLst xmlns:a="http://schemas.openxmlformats.org/drawingml/2006/main">
              <a:ext uri="{FF2B5EF4-FFF2-40B4-BE49-F238E27FC236}">
                <a16:creationId xmlns:a16="http://schemas.microsoft.com/office/drawing/2014/main" id="{2D00FF02-909A-4305-BD96-D6F9335BD157}"/>
              </a:ext>
            </a:extLst>
          </p:cNvPr>
          <p:cNvSpPr>
            <a:spLocks xmlns:a="http://schemas.openxmlformats.org/drawingml/2006/main" noGrp="1"/>
          </p:cNvSpPr>
          <p:nvPr/>
        </p:nvSpPr>
        <p:spPr>
          <a:xfrm xmlns:a="http://schemas.openxmlformats.org/drawingml/2006/main">
            <a:off x="590550" y="4200525"/>
            <a:ext cx="10763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Academic scope and document identity remain central.</a:t>
            </a:r>
          </a:p>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Hybrid retrieval, token-safe embeddings and Gemini support the answer.</a:t>
            </a:r>
          </a:p>
          <a:p xmlns:a="http://schemas.openxmlformats.org/drawingml/2006/main">
            <a:pPr>
              <a:defRPr sz="1875" b="0">
                <a:solidFill>
                  <a:srgbClr val="B7C5D3"/>
                </a:solidFill>
                <a:latin typeface="Arial"/>
                <a:ea typeface="Arial"/>
                <a:cs typeface="Arial"/>
              </a:defRPr>
            </a:pPr>
            <a:r>
              <a:rPr sz="1875" b="0">
                <a:solidFill>
                  <a:srgbClr val="B7C5D3"/>
                </a:solidFill>
                <a:latin typeface="Arial"/>
                <a:ea typeface="Arial"/>
                <a:cs typeface="Arial"/>
              </a:rPr>
              <a:t>Citations and evaluated index selection make the evidence inspectable.</a:t>
            </a:r>
          </a:p>
        </p:txBody>
      </p:sp>
      <p:sp>
        <p:nvSpPr>
          <p:cNvPr id="6" name="">
            <a:extLst xmlns:a="http://schemas.openxmlformats.org/drawingml/2006/main">
              <a:ext uri="{FF2B5EF4-FFF2-40B4-BE49-F238E27FC236}">
                <a16:creationId xmlns:a16="http://schemas.microsoft.com/office/drawing/2014/main" id="{6A3FE31F-4293-4AA6-BB89-69E8F129E99F}"/>
              </a:ext>
            </a:extLst>
          </p:cNvPr>
          <p:cNvSpPr>
            <a:spLocks xmlns:a="http://schemas.openxmlformats.org/drawingml/2006/main" noGrp="1"/>
          </p:cNvSpPr>
          <p:nvPr/>
        </p:nvSpPr>
        <p:spPr>
          <a:xfrm xmlns:a="http://schemas.openxmlformats.org/drawingml/2006/main">
            <a:off x="590550" y="5676900"/>
            <a:ext cx="5953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F2F6FA"/>
                </a:solidFill>
                <a:latin typeface="Arial"/>
                <a:ea typeface="Arial"/>
                <a:cs typeface="Arial"/>
              </a:defRPr>
            </a:pPr>
            <a:r>
              <a:rPr sz="3600" b="1">
                <a:solidFill>
                  <a:srgbClr val="F2F6FA"/>
                </a:solidFill>
                <a:latin typeface="Arial"/>
                <a:ea typeface="Arial"/>
                <a:cs typeface="Arial"/>
              </a:rPr>
              <a:t>Thank You</a:t>
            </a:r>
          </a:p>
        </p:txBody>
      </p:sp>
      <p:sp>
        <p:nvSpPr>
          <p:cNvPr id="7" name="">
            <a:extLst xmlns:a="http://schemas.openxmlformats.org/drawingml/2006/main">
              <a:ext uri="{FF2B5EF4-FFF2-40B4-BE49-F238E27FC236}">
                <a16:creationId xmlns:a16="http://schemas.microsoft.com/office/drawing/2014/main" id="{FEDDDA88-11D2-47FF-800E-D7A636C4DC2A}"/>
              </a:ext>
            </a:extLst>
          </p:cNvPr>
          <p:cNvSpPr>
            <a:spLocks xmlns:a="http://schemas.openxmlformats.org/drawingml/2006/main" noGrp="1"/>
          </p:cNvSpPr>
          <p:nvPr/>
        </p:nvSpPr>
        <p:spPr>
          <a:xfrm xmlns:a="http://schemas.openxmlformats.org/drawingml/2006/main">
            <a:off x="8353425" y="5791200"/>
            <a:ext cx="32099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0">
                <a:solidFill>
                  <a:srgbClr val="8CDCAC"/>
                </a:solidFill>
                <a:latin typeface="Arial"/>
                <a:ea typeface="Arial"/>
                <a:cs typeface="Arial"/>
              </a:defRPr>
            </a:pPr>
            <a:r>
              <a:rPr sz="2475" b="0">
                <a:solidFill>
                  <a:srgbClr val="8CDCAC"/>
                </a:solidFill>
                <a:latin typeface="Arial"/>
                <a:ea typeface="Arial"/>
                <a:cs typeface="Arial"/>
              </a:rPr>
              <a:t>Questions?</a:t>
            </a:r>
          </a:p>
        </p:txBody>
      </p:sp>
    </p:spTree>
    <p:extLst>
      <p:ext uri="{BB962C8B-B14F-4D97-AF65-F5344CB8AC3E}">
        <p14:creationId xmlns:p14="http://schemas.microsoft.com/office/powerpoint/2010/main" val="373105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2026-09-13T06:16:56.5060000Z</dcterms:created>
  <dcterms:modified xsi:type="dcterms:W3CDTF">2026-09-13T06:16:56.5060000Z</dcterms:modified>
</coreProperties>
</file>